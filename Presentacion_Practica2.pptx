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2D8F85C6-DE4B-31BD-9B74-54BAEEB1801D}">
          <p14:sldIdLst>
            <p14:sldId id="256"/>
            <p14:sldId id="257"/>
            <p14:sldId id="258"/>
          </p14:sldIdLst>
        </p14:section>
        <p14:section name="Metodología" id="{7B1C2740-83B6-217D-8F70-37125B9467B5}">
          <p14:sldIdLst>
            <p14:sldId id="259"/>
          </p14:sldIdLst>
        </p14:section>
        <p14:section name="Diagnóstico" id="{3355A524-CF67-FC01-4F29-586EDDF02EDD}">
          <p14:sldIdLst>
            <p14:sldId id="260"/>
          </p14:sldIdLst>
        </p14:section>
        <p14:section name="EDA" id="{B8F2B66A-63EF-0F97-1B96-4D6BA15D17AF}">
          <p14:sldIdLst>
            <p14:sldId id="261"/>
            <p14:sldId id="262"/>
          </p14:sldIdLst>
        </p14:section>
        <p14:section name="Preparación" id="{E2A22778-FBE0-CDBE-2E89-0E83CAE70700}">
          <p14:sldIdLst>
            <p14:sldId id="263"/>
            <p14:sldId id="264"/>
          </p14:sldIdLst>
        </p14:section>
        <p14:section name="Resultados" id="{C0F98EA3-7544-3B12-A210-116118219B6F}">
          <p14:sldIdLst>
            <p14:sldId id="265"/>
            <p14:sldId id="266"/>
          </p14:sldIdLst>
        </p14:section>
        <p14:section name="Cierre" id="{03F69096-0C0C-DFCD-DD00-1D83D894B86F}">
          <p14:sldIdLst>
            <p14:sldId id="267"/>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B1F24"/>
                </a:solidFill>
                <a:latin typeface="+mn-lt"/>
              </a:defRPr>
            </a:pPr>
            <a:r>
              <a:rPr lang="es-MX" sz="1300" b="0" i="0" u="none" strike="noStrike">
                <a:solidFill>
                  <a:srgbClr val="1B1F24"/>
                </a:solidFill>
                <a:latin typeface="+mn-lt"/>
              </a:rPr>
              <a:t>Tasa de supervivencia por grupo (Titanic)</a:t>
            </a:r>
          </a:p>
        </c:rich>
      </c:tx>
      <c:overlay val="0"/>
    </c:title>
    <c:autoTitleDeleted val="0"/>
    <c:plotArea>
      <c:layout/>
      <c:barChart>
        <c:barDir val="col"/>
        <c:grouping val="clustered"/>
        <c:varyColors val="0"/>
        <c:ser>
          <c:idx val="0"/>
          <c:order val="0"/>
          <c:tx>
            <c:strRef>
              <c:f>Sheet1!$B$1</c:f>
              <c:strCache>
                <c:ptCount val="1"/>
                <c:pt idx="0">
                  <c:v>% que sobrevivió</c:v>
                </c:pt>
              </c:strCache>
            </c:strRef>
          </c:tx>
          <c:spPr>
            <a:solidFill>
              <a:srgbClr val="2A9D8F"/>
            </a:solidFill>
            <a:effectLst/>
          </c:spPr>
          <c:invertIfNegative val="0"/>
          <c:dLbls>
            <c:numFmt formatCode="0.0&quot;%&quot;" sourceLinked="0"/>
            <c:spPr>
              <a:noFill/>
              <a:ln>
                <a:noFill/>
              </a:ln>
              <a:effectLst/>
            </c:spPr>
            <c:txPr>
              <a:bodyPr/>
              <a:lstStyle/>
              <a:p>
                <a:pPr>
                  <a:defRPr sz="1200" b="0" i="0" u="none" strike="noStrike">
                    <a:solidFill>
                      <a:srgbClr val="1B1F24"/>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Mujeres</c:v>
                </c:pt>
                <c:pt idx="1">
                  <c:v>Hombres</c:v>
                </c:pt>
                <c:pt idx="2">
                  <c:v>1.ª clase</c:v>
                </c:pt>
                <c:pt idx="3">
                  <c:v>2.ª clase</c:v>
                </c:pt>
                <c:pt idx="4">
                  <c:v>3.ª clase</c:v>
                </c:pt>
              </c:strCache>
            </c:strRef>
          </c:cat>
          <c:val>
            <c:numRef>
              <c:f>Sheet1!$B$2:$B$6</c:f>
              <c:numCache>
                <c:formatCode>General</c:formatCode>
                <c:ptCount val="5"/>
                <c:pt idx="0">
                  <c:v>74.2</c:v>
                </c:pt>
                <c:pt idx="1">
                  <c:v>18.899999999999999</c:v>
                </c:pt>
                <c:pt idx="2">
                  <c:v>63</c:v>
                </c:pt>
                <c:pt idx="3">
                  <c:v>47.3</c:v>
                </c:pt>
                <c:pt idx="4">
                  <c:v>24.2</c:v>
                </c:pt>
              </c:numCache>
            </c:numRef>
          </c:val>
          <c:extLst>
            <c:ext xmlns:c16="http://schemas.microsoft.com/office/drawing/2014/chart" uri="{C3380CC4-5D6E-409C-BE32-E72D297353CC}">
              <c16:uniqueId val="{00000000-99D3-4FE2-8E8C-2444BCCA02A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lblOffset val="100"/>
        <c:noMultiLvlLbl val="1"/>
      </c:catAx>
      <c:valAx>
        <c:axId val="2094734552"/>
        <c:scaling>
          <c:orientation val="minMax"/>
          <c:max val="100"/>
        </c:scaling>
        <c:delete val="0"/>
        <c:axPos val="l"/>
        <c:majorGridlines>
          <c:spPr>
            <a:ln w="6350" cap="flat">
              <a:solidFill>
                <a:srgbClr val="DDE3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57D"/>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B1F24"/>
                </a:solidFill>
                <a:latin typeface="+mn-lt"/>
              </a:defRPr>
            </a:pPr>
            <a:r>
              <a:rPr lang="es-MX" sz="1300" b="0" i="0" u="none" strike="noStrike">
                <a:solidFill>
                  <a:srgbClr val="1B1F24"/>
                </a:solidFill>
                <a:latin typeface="+mn-lt"/>
              </a:rPr>
              <a:t>Tasa de abandono por tipo de contrato (Telco)</a:t>
            </a:r>
          </a:p>
        </c:rich>
      </c:tx>
      <c:overlay val="0"/>
    </c:title>
    <c:autoTitleDeleted val="0"/>
    <c:plotArea>
      <c:layout/>
      <c:barChart>
        <c:barDir val="col"/>
        <c:grouping val="clustered"/>
        <c:varyColors val="0"/>
        <c:ser>
          <c:idx val="0"/>
          <c:order val="0"/>
          <c:tx>
            <c:strRef>
              <c:f>Sheet1!$B$1</c:f>
              <c:strCache>
                <c:ptCount val="1"/>
                <c:pt idx="0">
                  <c:v>% de abandono</c:v>
                </c:pt>
              </c:strCache>
            </c:strRef>
          </c:tx>
          <c:spPr>
            <a:solidFill>
              <a:srgbClr val="E76F51"/>
            </a:solidFill>
            <a:effectLst/>
          </c:spPr>
          <c:invertIfNegative val="0"/>
          <c:dLbls>
            <c:numFmt formatCode="0.0&quot;%&quot;" sourceLinked="0"/>
            <c:spPr>
              <a:noFill/>
              <a:ln>
                <a:noFill/>
              </a:ln>
              <a:effectLst/>
            </c:spPr>
            <c:txPr>
              <a:bodyPr/>
              <a:lstStyle/>
              <a:p>
                <a:pPr>
                  <a:defRPr sz="1200" b="0" i="0" u="none" strike="noStrike">
                    <a:solidFill>
                      <a:srgbClr val="1B1F24"/>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Mensual</c:v>
                </c:pt>
                <c:pt idx="1">
                  <c:v>Un año</c:v>
                </c:pt>
                <c:pt idx="2">
                  <c:v>Dos años</c:v>
                </c:pt>
              </c:strCache>
            </c:strRef>
          </c:cat>
          <c:val>
            <c:numRef>
              <c:f>Sheet1!$B$2:$B$4</c:f>
              <c:numCache>
                <c:formatCode>General</c:formatCode>
                <c:ptCount val="3"/>
                <c:pt idx="0">
                  <c:v>42.7</c:v>
                </c:pt>
                <c:pt idx="1">
                  <c:v>11.3</c:v>
                </c:pt>
                <c:pt idx="2">
                  <c:v>2.8</c:v>
                </c:pt>
              </c:numCache>
            </c:numRef>
          </c:val>
          <c:extLst>
            <c:ext xmlns:c16="http://schemas.microsoft.com/office/drawing/2014/chart" uri="{C3380CC4-5D6E-409C-BE32-E72D297353CC}">
              <c16:uniqueId val="{00000000-1612-4CFA-B840-012B03D2BA5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1F24"/>
                </a:solidFill>
                <a:latin typeface="+mn-lt"/>
              </a:defRPr>
            </a:pPr>
            <a:endParaRPr lang="en-US"/>
          </a:p>
        </c:txPr>
        <c:crossAx val="2094734552"/>
        <c:crosses val="autoZero"/>
        <c:auto val="1"/>
        <c:lblAlgn val="ctr"/>
        <c:lblOffset val="100"/>
        <c:noMultiLvlLbl val="1"/>
      </c:catAx>
      <c:valAx>
        <c:axId val="2094734552"/>
        <c:scaling>
          <c:orientation val="minMax"/>
          <c:max val="50"/>
        </c:scaling>
        <c:delete val="0"/>
        <c:axPos val="l"/>
        <c:majorGridlines>
          <c:spPr>
            <a:ln w="6350" cap="flat">
              <a:solidFill>
                <a:srgbClr val="DDE3EA"/>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57D"/>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300" b="0" i="0" u="none" strike="noStrike">
                <a:solidFill>
                  <a:srgbClr val="1B1F24"/>
                </a:solidFill>
                <a:latin typeface="+mn-lt"/>
              </a:defRPr>
            </a:pPr>
            <a:r>
              <a:rPr lang="es-ES" sz="1300" b="0" i="0" u="none" strike="noStrike">
                <a:solidFill>
                  <a:srgbClr val="1B1F24"/>
                </a:solidFill>
                <a:latin typeface="+mn-lt"/>
              </a:rPr>
              <a:t>Telco, validación cruzada de 5 folds (clase "abandona")</a:t>
            </a:r>
          </a:p>
        </c:rich>
      </c:tx>
      <c:overlay val="0"/>
    </c:title>
    <c:autoTitleDeleted val="0"/>
    <c:plotArea>
      <c:layout/>
      <c:barChart>
        <c:barDir val="col"/>
        <c:grouping val="clustered"/>
        <c:varyColors val="0"/>
        <c:ser>
          <c:idx val="0"/>
          <c:order val="0"/>
          <c:tx>
            <c:strRef>
              <c:f>Sheet1!$B$1</c:f>
              <c:strCache>
                <c:ptCount val="1"/>
                <c:pt idx="0">
                  <c:v>Recall</c:v>
                </c:pt>
              </c:strCache>
            </c:strRef>
          </c:tx>
          <c:spPr>
            <a:solidFill>
              <a:srgbClr val="E76F51"/>
            </a:solidFill>
            <a:effectLst/>
          </c:spPr>
          <c:invertIfNegative val="0"/>
          <c:dLbls>
            <c:numFmt formatCode="0.00" sourceLinked="0"/>
            <c:spPr>
              <a:noFill/>
              <a:ln>
                <a:noFill/>
              </a:ln>
              <a:effectLst/>
            </c:spPr>
            <c:txPr>
              <a:bodyPr/>
              <a:lstStyle/>
              <a:p>
                <a:pPr>
                  <a:defRPr sz="800" b="0" i="0" u="none" strike="noStrike">
                    <a:solidFill>
                      <a:srgbClr val="1B1F24"/>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Sin balanceo</c:v>
                </c:pt>
                <c:pt idx="1">
                  <c:v>Ponderación</c:v>
                </c:pt>
                <c:pt idx="2">
                  <c:v>Sobremuestreo</c:v>
                </c:pt>
                <c:pt idx="3">
                  <c:v>Submuestreo</c:v>
                </c:pt>
                <c:pt idx="4">
                  <c:v>SMOTE</c:v>
                </c:pt>
              </c:strCache>
            </c:strRef>
          </c:cat>
          <c:val>
            <c:numRef>
              <c:f>Sheet1!$B$2:$B$6</c:f>
              <c:numCache>
                <c:formatCode>General</c:formatCode>
                <c:ptCount val="5"/>
                <c:pt idx="0">
                  <c:v>0.54200000000000004</c:v>
                </c:pt>
                <c:pt idx="1">
                  <c:v>0.80300000000000005</c:v>
                </c:pt>
                <c:pt idx="2">
                  <c:v>0.80200000000000005</c:v>
                </c:pt>
                <c:pt idx="3">
                  <c:v>0.8</c:v>
                </c:pt>
                <c:pt idx="4">
                  <c:v>0.79100000000000004</c:v>
                </c:pt>
              </c:numCache>
            </c:numRef>
          </c:val>
          <c:extLst>
            <c:ext xmlns:c16="http://schemas.microsoft.com/office/drawing/2014/chart" uri="{C3380CC4-5D6E-409C-BE32-E72D297353CC}">
              <c16:uniqueId val="{00000000-2833-467C-AD6B-11BC7E5E9DCC}"/>
            </c:ext>
          </c:extLst>
        </c:ser>
        <c:ser>
          <c:idx val="1"/>
          <c:order val="1"/>
          <c:tx>
            <c:strRef>
              <c:f>Sheet1!$C$1</c:f>
              <c:strCache>
                <c:ptCount val="1"/>
                <c:pt idx="0">
                  <c:v>Precision</c:v>
                </c:pt>
              </c:strCache>
            </c:strRef>
          </c:tx>
          <c:spPr>
            <a:solidFill>
              <a:srgbClr val="8AA1B9"/>
            </a:solidFill>
            <a:effectLst/>
          </c:spPr>
          <c:invertIfNegative val="0"/>
          <c:dLbls>
            <c:numFmt formatCode="0.00" sourceLinked="0"/>
            <c:spPr>
              <a:noFill/>
              <a:ln>
                <a:noFill/>
              </a:ln>
              <a:effectLst/>
            </c:spPr>
            <c:txPr>
              <a:bodyPr/>
              <a:lstStyle/>
              <a:p>
                <a:pPr>
                  <a:defRPr sz="800" b="0" i="0" u="none" strike="noStrike">
                    <a:solidFill>
                      <a:srgbClr val="1B1F24"/>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Sin balanceo</c:v>
                </c:pt>
                <c:pt idx="1">
                  <c:v>Ponderación</c:v>
                </c:pt>
                <c:pt idx="2">
                  <c:v>Sobremuestreo</c:v>
                </c:pt>
                <c:pt idx="3">
                  <c:v>Submuestreo</c:v>
                </c:pt>
                <c:pt idx="4">
                  <c:v>SMOTE</c:v>
                </c:pt>
              </c:strCache>
            </c:strRef>
          </c:cat>
          <c:val>
            <c:numRef>
              <c:f>Sheet1!$C$2:$C$6</c:f>
              <c:numCache>
                <c:formatCode>General</c:formatCode>
                <c:ptCount val="5"/>
                <c:pt idx="0">
                  <c:v>0.65300000000000002</c:v>
                </c:pt>
                <c:pt idx="1">
                  <c:v>0.51800000000000002</c:v>
                </c:pt>
                <c:pt idx="2">
                  <c:v>0.51600000000000001</c:v>
                </c:pt>
                <c:pt idx="3">
                  <c:v>0.51400000000000001</c:v>
                </c:pt>
                <c:pt idx="4">
                  <c:v>0.52800000000000002</c:v>
                </c:pt>
              </c:numCache>
            </c:numRef>
          </c:val>
          <c:extLst>
            <c:ext xmlns:c16="http://schemas.microsoft.com/office/drawing/2014/chart" uri="{C3380CC4-5D6E-409C-BE32-E72D297353CC}">
              <c16:uniqueId val="{00000001-2833-467C-AD6B-11BC7E5E9DCC}"/>
            </c:ext>
          </c:extLst>
        </c:ser>
        <c:ser>
          <c:idx val="2"/>
          <c:order val="2"/>
          <c:tx>
            <c:strRef>
              <c:f>Sheet1!$D$1</c:f>
              <c:strCache>
                <c:ptCount val="1"/>
                <c:pt idx="0">
                  <c:v>F1</c:v>
                </c:pt>
              </c:strCache>
            </c:strRef>
          </c:tx>
          <c:spPr>
            <a:solidFill>
              <a:srgbClr val="1F3A5F"/>
            </a:solidFill>
            <a:effectLst/>
          </c:spPr>
          <c:invertIfNegative val="0"/>
          <c:dLbls>
            <c:numFmt formatCode="0.00" sourceLinked="0"/>
            <c:spPr>
              <a:noFill/>
              <a:ln>
                <a:noFill/>
              </a:ln>
              <a:effectLst/>
            </c:spPr>
            <c:txPr>
              <a:bodyPr/>
              <a:lstStyle/>
              <a:p>
                <a:pPr>
                  <a:defRPr sz="800" b="0" i="0" u="none" strike="noStrike">
                    <a:solidFill>
                      <a:srgbClr val="1B1F24"/>
                    </a:solidFill>
                    <a:latin typeface="+mn-lt"/>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Sin balanceo</c:v>
                </c:pt>
                <c:pt idx="1">
                  <c:v>Ponderación</c:v>
                </c:pt>
                <c:pt idx="2">
                  <c:v>Sobremuestreo</c:v>
                </c:pt>
                <c:pt idx="3">
                  <c:v>Submuestreo</c:v>
                </c:pt>
                <c:pt idx="4">
                  <c:v>SMOTE</c:v>
                </c:pt>
              </c:strCache>
            </c:strRef>
          </c:cat>
          <c:val>
            <c:numRef>
              <c:f>Sheet1!$D$2:$D$6</c:f>
              <c:numCache>
                <c:formatCode>General</c:formatCode>
                <c:ptCount val="5"/>
                <c:pt idx="0">
                  <c:v>0.59199999999999997</c:v>
                </c:pt>
                <c:pt idx="1">
                  <c:v>0.629</c:v>
                </c:pt>
                <c:pt idx="2">
                  <c:v>0.628</c:v>
                </c:pt>
                <c:pt idx="3">
                  <c:v>0.626</c:v>
                </c:pt>
                <c:pt idx="4">
                  <c:v>0.63300000000000001</c:v>
                </c:pt>
              </c:numCache>
            </c:numRef>
          </c:val>
          <c:extLst>
            <c:ext xmlns:c16="http://schemas.microsoft.com/office/drawing/2014/chart" uri="{C3380CC4-5D6E-409C-BE32-E72D297353CC}">
              <c16:uniqueId val="{00000002-2833-467C-AD6B-11BC7E5E9DC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B1F24"/>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DDE3E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C757D"/>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1F24"/>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2627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Somos el equipo de la Práctica 2. Les vamos a presentar cómo auditamos y preparamos dos datasets de clasificación, Titanic y Telco Customer Churn, qué decisiones tomamos en cada paso y qué efecto tuvieron sobre el modelo.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planteamiento de la práctica es este: una organización quiere construir un clasificador, pero antes de modelar encuentra datos incompletos, valores extremos y clases desbalanceadas. Nuestro trabajo fue diagnosticar la calidad de los datos, preparar los datos justificando cada decisión, y medir qué efecto tiene cada decisión sobre el modelo. Para comparar usamos cinco métricas y no solo accuracy, porque con clases desbalanceadas la accuracy engaña.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Titanic tiene 891 pasajeros y queremos predecir si sobrevivieron. Telco tiene 7,043 clientes de una telefónica y queremos predecir si se dan de baja. La razón de desbalance es la clase mayoritaria entre la minoritaria: en Titanic 549 entre 342 da 1.61, y en Telco da 2.77. Según el criterio de la práctica, arriba de 1.5 se considera desbalanceado, así que los dos lo están, Titanic apenas.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fue el flujo. Primero, profiling y EDA sobre los datos completos, solo para entenderlos. Luego separamos 80 % para entrenar y 20 % para prueba. A partir de ahí, todo lo que aprende algo de los datos, como la mediana para imputar o los límites de winsorización, se calcula únicamente con entrenamiento, dentro de pipelines. Así evitamos fuga de información. Comparamos estrategias con validación cruzada de 5 folds y el conjunto de prueba lo usamos una sola vez al final.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profiling revisamos tipos, nulos, estadísticos, frecuencias de cada categoría y valores fuera de dominio. En Titanic lo principal son los nulos de edad y de cabina, y la tarifa muy asimétrica, con 15 tarifas en cero que dejamos documentadas. En Telco el hallazgo interesante fue TotalCharges: venía como texto y tenía 11 espacios en blanco que no contaban como nulos. Al revisarlos, los 11 eran clientes nuevos, con antigüedad cero. La convertimos a número y volvimos a perfilar. Las correlaciones altas las documentamos pero no eliminamos variables, porque afectan la interpretación de coeficientes, no la predicción.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EDA de Titanic, lo más claro es que sobrevivió el 74 % de las mujeres contra el 19 % de los hombres, y el 63 % en primera clase contra el 24 % en tercera. La edad, en cambio, casi no separa: la mediana es 28 años en los dos grupos. La tarifa sí: quienes sobrevivieron pagaron más. Y algo útil para la imputación: los pasajeros sin edad registrada sobrevivieron menos, así que la ausencia podría ser informativa. Esto también muestra un riesgo ético: el modelo aprende el sesgo histórico de sexo y clase.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Telco, el tipo de contrato es lo que más separa: se da de baja el 43 % de los clientes con contrato mensual, el 11 % a un año y menos del 3 % a dos años. También se van más los de fibra óptica y los clientes nuevos. Y este último dato es clave para todo lo que sigue: como solo el 26.5 % abandona, un modelo que siempre diga 'no abandona' ya tiene 73.5 % de accuracy sin detectar a nadie.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imputar elegimos Age como numérica y Embarked como categórica. Comparamos media más moda contra mediana más 'Desconocido'. En los histogramas se ve el efecto: los 137 valores faltantes caen todos en un mismo número y se forma un pico artificial; la desviación baja de 14.5 a 13. En desempeño no hay diferencia real: F1 de 0.729 contra 0.730, menor que la variación entre folds. Elegimos mediana más 'Desconocido' porque la mediana no se mueve con valores extremos y no inventamos un puerto. El indicador de ausencia no mejoró el modelo.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Fare era la variable con valores extremos. Probamos dos criterios. El IQR recorta casi 13 % de las tarifas a 65.66; son tarifas reales de primera clase, no errores, y el F1 baja. Los percentiles 1 y 99 solo cambian el 1 % más alto, porque el percentil 1 es cero. El desempeño queda exactamente igual. Hay que ser honestos: la winsorización no mejoró el modelo. La elegimos porque reduce la influencia de los extremos sin borrar información. En Telco el IQR no encontró outliers, así que no había nada que winsorizar.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Comparamos las cinco estrategias en Telco, siempre con la misma partición y aplicando el remuestreo solo al entrenamiento de cada fold. Sin balanceo el modelo detecta solo al 54 % de los clientes que se van. Con cualquier técnica, el recall sube a cerca de 80 % y la precisión baja a 0.52. El F1 mejora de 0.59 a 0.63. Entre las cuatro técnicas prácticamente hay empate. Y el ROC-AUC no cambia: balancear mueve el punto de corte, no hace al modelo mejor ordenando clientes. En Titanic probamos lo mismo y el F1 no cambió, así que ahí no balanceamos.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 final evaluamos una sola vez en el conjunto de prueba. En Telco, el modelo sin balanceo detecta 207 de los 374 abandonos. Con ponderación de clases detecta 293, o sea 86 más, pero a cambio genera 180 falsas alarmas adicionales: unas dos por cada abandono extra detectado. Ese es el compromiso entre detectar la clase minoritaria y equivocarse con clientes que no se iban a ir. En Titanic, el modelo elegido tiene F1 de 0.72 en prueba. En los dos casos las métricas de prueba son muy parecidas a las de validación cruzada, así que no hubo sobreajuste.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cerrar. Primero, revisar la calidad antes de modelar sí importa: el caso de TotalCharges habría pasado desapercibido. Segundo, la imputación y la winsorización no mejoraron el modelo, y lo decimos tal cual; su valor fue dejar los datos más robustos. Tercero, el balanceo cambia el equilibrio entre detectar abandonos y generar falsas alarmas, y eso solo se ve si no nos quedamos con la accuracy. Nuestra recomendación para Telco es ponderación de clases, evaluada con recall, precision y F1. Si las campañas de retención fueran caras, conviene el modelo sin balanceo o mover el umbral.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usamos un solo modelo y el umbral por defecto; no tenemos datos de costos reales para validar la recomendación; en Telco las variables se miden cuando el cliente ya se fue, lo que en un escenario real podría inflar el desempeño; y hay sesgos que no se deben ignorar, como el de sexo y clase en Titanic y los atributos sensibles en Telco. Por último, declaramos que usamos Claude como apoyo; todas las decisiones las validó el equipo.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Todo el código, la ficha técnica y el informe están en el repositorio. ¿Hay preguntas?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3A5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8046720" cy="1371600"/>
          </a:xfrm>
          <a:prstGeom prst="rect">
            <a:avLst/>
          </a:prstGeom>
          <a:noFill/>
          <a:ln/>
        </p:spPr>
        <p:txBody>
          <a:bodyPr wrap="square" rtlCol="0"/>
          <a:lstStyle>
            <a:lvl1pPr marL="0" indent="0" algn="l">
              <a:buNone/>
              <a:defRPr lang="en-US" sz="3800" b="1" dirty="0">
                <a:solidFill>
                  <a:schemeClr val="bg1"/>
                </a:solidFill>
                <a:latin typeface="Cambria" pitchFamily="34" charset="0"/>
                <a:ea typeface="Cambria" pitchFamily="34" charset="-122"/>
                <a:cs typeface="Cambria" pitchFamily="34" charset="-120"/>
              </a:defRPr>
            </a:lvl1pPr>
          </a:lstStyle>
          <a:p>
            <a:pPr marL="0" indent="0" algn="l">
              <a:buNone/>
            </a:pPr>
            <a:r>
              <a:rPr lang="en-US" sz="3800" b="1" dirty="0">
                <a:solidFill>
                  <a:schemeClr val="bg1"/>
                </a:solidFill>
                <a:latin typeface="Cambria" pitchFamily="34" charset="0"/>
                <a:ea typeface="Cambria" pitchFamily="34" charset="-122"/>
                <a:cs typeface="Cambria" pitchFamily="34" charset="-120"/>
              </a:rPr>
              <a:t>Título</a:t>
            </a:r>
            <a:endParaRPr lang="en-US" sz="3800" dirty="0"/>
          </a:p>
        </p:txBody>
      </p:sp>
      <p:sp>
        <p:nvSpPr>
          <p:cNvPr id="3" name="Text 0"/>
          <p:cNvSpPr>
            <a:spLocks noGrp="1"/>
          </p:cNvSpPr>
          <p:nvPr>
            <p:ph type="body" idx="101" hasCustomPrompt="1"/>
          </p:nvPr>
        </p:nvSpPr>
        <p:spPr>
          <a:xfrm>
            <a:off x="548640" y="2651760"/>
            <a:ext cx="8046720" cy="2011680"/>
          </a:xfrm>
          <a:prstGeom prst="rect">
            <a:avLst/>
          </a:prstGeom>
          <a:noFill/>
          <a:ln/>
        </p:spPr>
        <p:txBody>
          <a:bodyPr wrap="square" rtlCol="0"/>
          <a:lstStyle>
            <a:lvl1pPr marL="0" indent="0" algn="l">
              <a:buNone/>
              <a:defRPr lang="en-US" sz="1600" dirty="0">
                <a:solidFill>
                  <a:schemeClr val="bg2"/>
                </a:solidFill>
                <a:latin typeface="Calibri" pitchFamily="34" charset="0"/>
                <a:ea typeface="Calibri" pitchFamily="34" charset="-122"/>
                <a:cs typeface="Calibri" pitchFamily="34" charset="-120"/>
              </a:defRPr>
            </a:lvl1pPr>
          </a:lstStyle>
          <a:p>
            <a:pPr marL="0" indent="0" algn="l">
              <a:buNone/>
            </a:pPr>
            <a:r>
              <a:rPr lang="en-US" sz="1600" dirty="0">
                <a:solidFill>
                  <a:schemeClr val="bg2"/>
                </a:solidFill>
                <a:latin typeface="Calibri" pitchFamily="34" charset="0"/>
                <a:ea typeface="Calibri" pitchFamily="34" charset="-122"/>
                <a:cs typeface="Calibri" pitchFamily="34" charset="-120"/>
              </a:rPr>
              <a:t>Subtítulo</a:t>
            </a: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4773168"/>
            <a:ext cx="4572000" cy="228600"/>
          </a:xfrm>
          <a:prstGeom prst="rect">
            <a:avLst/>
          </a:prstGeom>
          <a:noFill/>
          <a:ln/>
        </p:spPr>
        <p:txBody>
          <a:bodyPr wrap="square" lIns="0" tIns="0" rIns="0" bIns="0" rtlCol="0" anchor="ctr"/>
          <a:lstStyle/>
          <a:p>
            <a:pPr marL="0" indent="0">
              <a:buNone/>
            </a:pPr>
            <a:r>
              <a:rPr lang="en-US" sz="1000" dirty="0">
                <a:solidFill>
                  <a:srgbClr val="6C757D"/>
                </a:solidFill>
                <a:latin typeface="Calibri" pitchFamily="34" charset="0"/>
                <a:ea typeface="Calibri" pitchFamily="34" charset="-122"/>
                <a:cs typeface="Calibri" pitchFamily="34" charset="-120"/>
              </a:rPr>
              <a:t>Práctica 2 · EDA y preparación de datasets</a:t>
            </a:r>
            <a:endParaRPr lang="en-US" sz="1000" dirty="0"/>
          </a:p>
        </p:txBody>
      </p:sp>
      <p:sp>
        <p:nvSpPr>
          <p:cNvPr id="3" name="Text 1"/>
          <p:cNvSpPr>
            <a:spLocks noGrp="1"/>
          </p:cNvSpPr>
          <p:nvPr>
            <p:ph type="title" idx="101" hasCustomPrompt="1"/>
          </p:nvPr>
        </p:nvSpPr>
        <p:spPr>
          <a:xfrm>
            <a:off x="457200" y="274320"/>
            <a:ext cx="8229600" cy="685800"/>
          </a:xfrm>
          <a:prstGeom prst="rect">
            <a:avLst/>
          </a:prstGeom>
          <a:noFill/>
          <a:ln/>
        </p:spPr>
        <p:txBody>
          <a:bodyPr wrap="square" rtlCol="0"/>
          <a:lstStyle>
            <a:lvl1pPr marL="0" indent="0" algn="l">
              <a:buNone/>
              <a:defRPr lang="en-US" sz="2800" b="1" dirty="0">
                <a:solidFill>
                  <a:schemeClr val="tx2"/>
                </a:solidFill>
                <a:latin typeface="Cambria" pitchFamily="34" charset="0"/>
                <a:ea typeface="Cambria" pitchFamily="34" charset="-122"/>
                <a:cs typeface="Cambria" pitchFamily="34" charset="-120"/>
              </a:defRPr>
            </a:lvl1pPr>
          </a:lstStyle>
          <a:p>
            <a:pPr marL="0" indent="0" algn="l">
              <a:buNone/>
            </a:pPr>
            <a:r>
              <a:rPr lang="en-US" sz="2800" b="1" dirty="0">
                <a:solidFill>
                  <a:schemeClr val="tx2"/>
                </a:solidFill>
                <a:latin typeface="Cambria" pitchFamily="34" charset="0"/>
                <a:ea typeface="Cambria" pitchFamily="34" charset="-122"/>
                <a:cs typeface="Cambria" pitchFamily="34" charset="-120"/>
              </a:rPr>
              <a:t>Título</a:t>
            </a:r>
            <a:endParaRPr lang="en-US" sz="28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8046720" cy="1371600"/>
          </a:xfrm>
          <a:prstGeom prst="rect">
            <a:avLst/>
          </a:prstGeom>
          <a:noFill/>
          <a:ln/>
        </p:spPr>
        <p:txBody>
          <a:bodyPr wrap="square" lIns="0" tIns="0" rIns="0" bIns="0" rtlCol="0" anchor="b"/>
          <a:lstStyle/>
          <a:p>
            <a:pPr marL="0" indent="0" algn="l">
              <a:buNone/>
            </a:pPr>
            <a:r>
              <a:rPr lang="en-US" sz="3800" b="1" dirty="0">
                <a:solidFill>
                  <a:schemeClr val="bg1"/>
                </a:solidFill>
                <a:latin typeface="Cambria" pitchFamily="34" charset="0"/>
                <a:ea typeface="Cambria" pitchFamily="34" charset="-122"/>
                <a:cs typeface="Cambria" pitchFamily="34" charset="-120"/>
              </a:rPr>
              <a:t>Análisis exploratorio y preparación de datos: Titanic y Telco Customer Churn</a:t>
            </a:r>
            <a:endParaRPr lang="en-US" sz="3800" dirty="0"/>
          </a:p>
        </p:txBody>
      </p:sp>
      <p:sp>
        <p:nvSpPr>
          <p:cNvPr id="3" name="Text 0"/>
          <p:cNvSpPr>
            <a:spLocks noGrp="1"/>
          </p:cNvSpPr>
          <p:nvPr>
            <p:ph type="body" idx="101" hasCustomPrompt="1"/>
          </p:nvPr>
        </p:nvSpPr>
        <p:spPr>
          <a:xfrm>
            <a:off x="548640" y="2651760"/>
            <a:ext cx="8046720" cy="2011680"/>
          </a:xfrm>
          <a:prstGeom prst="rect">
            <a:avLst/>
          </a:prstGeom>
          <a:noFill/>
          <a:ln/>
        </p:spPr>
        <p:txBody>
          <a:bodyPr wrap="square" lIns="0" tIns="0" rIns="0" bIns="0" rtlCol="0" anchor="t"/>
          <a:lstStyle/>
          <a:p>
            <a:pPr marL="0" indent="0" algn="l">
              <a:buNone/>
            </a:pPr>
            <a:r>
              <a:rPr lang="en-US" sz="1600" b="1" dirty="0">
                <a:solidFill>
                  <a:schemeClr val="bg2"/>
                </a:solidFill>
                <a:latin typeface="Calibri" pitchFamily="34" charset="0"/>
                <a:ea typeface="Calibri" pitchFamily="34" charset="-122"/>
                <a:cs typeface="Calibri" pitchFamily="34" charset="-120"/>
              </a:rPr>
              <a:t>Práctica 2 · Inteligencia Artificial · ESCOM-IPN</a:t>
            </a:r>
            <a:endParaRPr lang="en-US" sz="1600" dirty="0"/>
          </a:p>
          <a:p>
            <a:pPr marL="0" indent="0" algn="l">
              <a:buNone/>
            </a:pPr>
            <a:r>
              <a:rPr lang="en-US" sz="800" dirty="0">
                <a:solidFill>
                  <a:schemeClr val="bg2"/>
                </a:solidFill>
                <a:latin typeface="Calibri" pitchFamily="34" charset="0"/>
                <a:ea typeface="Calibri" pitchFamily="34" charset="-122"/>
                <a:cs typeface="Calibri" pitchFamily="34" charset="-120"/>
              </a:rPr>
              <a:t> </a:t>
            </a:r>
            <a:endParaRPr lang="en-US" sz="1600" dirty="0"/>
          </a:p>
          <a:p>
            <a:pPr marL="0" indent="0" algn="l">
              <a:buNone/>
            </a:pPr>
            <a:r>
              <a:rPr lang="en-US" sz="1400" dirty="0">
                <a:solidFill>
                  <a:schemeClr val="bg2"/>
                </a:solidFill>
                <a:latin typeface="Calibri" pitchFamily="34" charset="0"/>
                <a:ea typeface="Calibri" pitchFamily="34" charset="-122"/>
                <a:cs typeface="Calibri" pitchFamily="34" charset="-120"/>
              </a:rPr>
              <a:t>Dávila Martínez Brayan</a:t>
            </a:r>
            <a:endParaRPr lang="en-US" sz="1600" dirty="0"/>
          </a:p>
          <a:p>
            <a:pPr marL="0" indent="0" algn="l">
              <a:buNone/>
            </a:pPr>
            <a:r>
              <a:rPr lang="en-US" sz="1400" dirty="0">
                <a:solidFill>
                  <a:schemeClr val="bg2"/>
                </a:solidFill>
                <a:latin typeface="Calibri" pitchFamily="34" charset="0"/>
                <a:ea typeface="Calibri" pitchFamily="34" charset="-122"/>
                <a:cs typeface="Calibri" pitchFamily="34" charset="-120"/>
              </a:rPr>
              <a:t>Hernández Alonso Diego Raymundo</a:t>
            </a:r>
            <a:endParaRPr lang="en-US" sz="1600" dirty="0"/>
          </a:p>
          <a:p>
            <a:pPr marL="0" indent="0" algn="l">
              <a:buNone/>
            </a:pPr>
            <a:r>
              <a:rPr lang="en-US" sz="1400" dirty="0">
                <a:solidFill>
                  <a:schemeClr val="bg2"/>
                </a:solidFill>
                <a:latin typeface="Calibri" pitchFamily="34" charset="0"/>
                <a:ea typeface="Calibri" pitchFamily="34" charset="-122"/>
                <a:cs typeface="Calibri" pitchFamily="34" charset="-120"/>
              </a:rPr>
              <a:t>Martínez Rios Edson Jared</a:t>
            </a:r>
            <a:endParaRPr lang="en-US" sz="1600" dirty="0"/>
          </a:p>
          <a:p>
            <a:pPr marL="0" indent="0" algn="l">
              <a:buNone/>
            </a:pPr>
            <a:r>
              <a:rPr lang="en-US" sz="1400" dirty="0">
                <a:solidFill>
                  <a:schemeClr val="bg2"/>
                </a:solidFill>
                <a:latin typeface="Calibri" pitchFamily="34" charset="0"/>
                <a:ea typeface="Calibri" pitchFamily="34" charset="-122"/>
                <a:cs typeface="Calibri" pitchFamily="34" charset="-120"/>
              </a:rPr>
              <a:t>Pallares Hernández Oscar</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¿Qué problema resolvimos?</a:t>
            </a:r>
            <a:endParaRPr lang="en-US" sz="2800" dirty="0"/>
          </a:p>
        </p:txBody>
      </p:sp>
      <p:sp>
        <p:nvSpPr>
          <p:cNvPr id="3" name="planteamiento"/>
          <p:cNvSpPr/>
          <p:nvPr/>
        </p:nvSpPr>
        <p:spPr>
          <a:xfrm>
            <a:off x="457200" y="1051560"/>
            <a:ext cx="8229600" cy="1051560"/>
          </a:xfrm>
          <a:prstGeom prst="roundRect">
            <a:avLst>
              <a:gd name="adj" fmla="val 6957"/>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685800" y="1170432"/>
            <a:ext cx="7772400" cy="868680"/>
          </a:xfrm>
          <a:prstGeom prst="rect">
            <a:avLst/>
          </a:prstGeom>
          <a:noFill/>
          <a:ln/>
        </p:spPr>
        <p:txBody>
          <a:bodyPr wrap="square" lIns="0" tIns="0" rIns="0" bIns="0" rtlCol="0" anchor="ctr"/>
          <a:lstStyle/>
          <a:p>
            <a:pPr marL="0" indent="0">
              <a:buNone/>
            </a:pPr>
            <a:r>
              <a:rPr lang="en-US" sz="1400" b="1" dirty="0">
                <a:solidFill>
                  <a:schemeClr val="tx1"/>
                </a:solidFill>
              </a:rPr>
              <a:t>Planteamiento: </a:t>
            </a:r>
            <a:r>
              <a:rPr lang="en-US" sz="1400" dirty="0">
                <a:solidFill>
                  <a:schemeClr val="tx1"/>
                </a:solidFill>
              </a:rPr>
              <a:t>una organización quiere entrenar un clasificador con datos históricos, pero los datos tienen registros incompletos, valores extremos y clases desbalanceadas. Si solo se mira la accuracy, las conclusiones pueden ser engañosas.</a:t>
            </a:r>
            <a:endParaRPr lang="en-US" sz="1400" dirty="0"/>
          </a:p>
        </p:txBody>
      </p:sp>
      <p:sp>
        <p:nvSpPr>
          <p:cNvPr id="5" name="num_1"/>
          <p:cNvSpPr/>
          <p:nvPr/>
        </p:nvSpPr>
        <p:spPr>
          <a:xfrm>
            <a:off x="457200" y="2468880"/>
            <a:ext cx="548640" cy="548640"/>
          </a:xfrm>
          <a:prstGeom prst="ellipse">
            <a:avLst/>
          </a:prstGeom>
          <a:solidFill>
            <a:schemeClr val="accent2"/>
          </a:solidFill>
          <a:ln w="12700">
            <a:solidFill>
              <a:schemeClr val="accent2"/>
            </a:solidFill>
            <a:prstDash val="solid"/>
          </a:ln>
        </p:spPr>
        <p:txBody>
          <a:bodyPr/>
          <a:lstStyle/>
          <a:p>
            <a:endParaRPr lang="es-MX"/>
          </a:p>
        </p:txBody>
      </p:sp>
      <p:sp>
        <p:nvSpPr>
          <p:cNvPr id="6" name="Text 4"/>
          <p:cNvSpPr txBox="1"/>
          <p:nvPr/>
        </p:nvSpPr>
        <p:spPr>
          <a:xfrm>
            <a:off x="457200" y="24688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1</a:t>
            </a:r>
            <a:endParaRPr lang="en-US" sz="2000" dirty="0"/>
          </a:p>
        </p:txBody>
      </p:sp>
      <p:sp>
        <p:nvSpPr>
          <p:cNvPr id="7" name="Text 5"/>
          <p:cNvSpPr txBox="1"/>
          <p:nvPr/>
        </p:nvSpPr>
        <p:spPr>
          <a:xfrm>
            <a:off x="1143000" y="2487168"/>
            <a:ext cx="192024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Diagnosticar</a:t>
            </a:r>
            <a:endParaRPr lang="en-US" sz="1800" dirty="0"/>
          </a:p>
        </p:txBody>
      </p:sp>
      <p:sp>
        <p:nvSpPr>
          <p:cNvPr id="8" name="Text 6"/>
          <p:cNvSpPr txBox="1"/>
          <p:nvPr/>
        </p:nvSpPr>
        <p:spPr>
          <a:xfrm>
            <a:off x="1143000" y="2880360"/>
            <a:ext cx="1920240" cy="1188720"/>
          </a:xfrm>
          <a:prstGeom prst="rect">
            <a:avLst/>
          </a:prstGeom>
          <a:noFill/>
          <a:ln/>
        </p:spPr>
        <p:txBody>
          <a:bodyPr wrap="square" lIns="0" tIns="0" rIns="0" bIns="0" rtlCol="0" anchor="t"/>
          <a:lstStyle/>
          <a:p>
            <a:pPr marL="0" indent="0">
              <a:buNone/>
            </a:pPr>
            <a:r>
              <a:rPr lang="en-US" sz="1300" dirty="0">
                <a:solidFill>
                  <a:schemeClr val="tx1"/>
                </a:solidFill>
              </a:rPr>
              <a:t>la calidad de cada dataset con profiling y EDA</a:t>
            </a:r>
            <a:endParaRPr lang="en-US" sz="1300" dirty="0"/>
          </a:p>
        </p:txBody>
      </p:sp>
      <p:sp>
        <p:nvSpPr>
          <p:cNvPr id="9" name="num_2"/>
          <p:cNvSpPr/>
          <p:nvPr/>
        </p:nvSpPr>
        <p:spPr>
          <a:xfrm>
            <a:off x="3291840" y="2468880"/>
            <a:ext cx="548640" cy="548640"/>
          </a:xfrm>
          <a:prstGeom prst="ellipse">
            <a:avLst/>
          </a:prstGeom>
          <a:solidFill>
            <a:schemeClr val="accent2"/>
          </a:solidFill>
          <a:ln w="12700">
            <a:solidFill>
              <a:schemeClr val="accent2"/>
            </a:solidFill>
            <a:prstDash val="solid"/>
          </a:ln>
        </p:spPr>
        <p:txBody>
          <a:bodyPr/>
          <a:lstStyle/>
          <a:p>
            <a:endParaRPr lang="es-MX"/>
          </a:p>
        </p:txBody>
      </p:sp>
      <p:sp>
        <p:nvSpPr>
          <p:cNvPr id="10" name="Text 8"/>
          <p:cNvSpPr txBox="1"/>
          <p:nvPr/>
        </p:nvSpPr>
        <p:spPr>
          <a:xfrm>
            <a:off x="3291840" y="24688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2</a:t>
            </a:r>
            <a:endParaRPr lang="en-US" sz="2000" dirty="0"/>
          </a:p>
        </p:txBody>
      </p:sp>
      <p:sp>
        <p:nvSpPr>
          <p:cNvPr id="11" name="Text 9"/>
          <p:cNvSpPr txBox="1"/>
          <p:nvPr/>
        </p:nvSpPr>
        <p:spPr>
          <a:xfrm>
            <a:off x="3977640" y="2487168"/>
            <a:ext cx="192024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Preparar</a:t>
            </a:r>
            <a:endParaRPr lang="en-US" sz="1800" dirty="0"/>
          </a:p>
        </p:txBody>
      </p:sp>
      <p:sp>
        <p:nvSpPr>
          <p:cNvPr id="12" name="Text 10"/>
          <p:cNvSpPr txBox="1"/>
          <p:nvPr/>
        </p:nvSpPr>
        <p:spPr>
          <a:xfrm>
            <a:off x="3977640" y="2880360"/>
            <a:ext cx="1920240" cy="1188720"/>
          </a:xfrm>
          <a:prstGeom prst="rect">
            <a:avLst/>
          </a:prstGeom>
          <a:noFill/>
          <a:ln/>
        </p:spPr>
        <p:txBody>
          <a:bodyPr wrap="square" lIns="0" tIns="0" rIns="0" bIns="0" rtlCol="0" anchor="t"/>
          <a:lstStyle/>
          <a:p>
            <a:pPr marL="0" indent="0">
              <a:buNone/>
            </a:pPr>
            <a:r>
              <a:rPr lang="en-US" sz="1300" dirty="0">
                <a:solidFill>
                  <a:schemeClr val="tx1"/>
                </a:solidFill>
              </a:rPr>
              <a:t>los datos: imputación, outliers y balanceo, justificando cada decisión</a:t>
            </a:r>
            <a:endParaRPr lang="en-US" sz="1300" dirty="0"/>
          </a:p>
        </p:txBody>
      </p:sp>
      <p:sp>
        <p:nvSpPr>
          <p:cNvPr id="13" name="num_3"/>
          <p:cNvSpPr/>
          <p:nvPr/>
        </p:nvSpPr>
        <p:spPr>
          <a:xfrm>
            <a:off x="6126480" y="2468880"/>
            <a:ext cx="548640" cy="548640"/>
          </a:xfrm>
          <a:prstGeom prst="ellipse">
            <a:avLst/>
          </a:prstGeom>
          <a:solidFill>
            <a:schemeClr val="accent2"/>
          </a:solidFill>
          <a:ln w="12700">
            <a:solidFill>
              <a:schemeClr val="accent2"/>
            </a:solidFill>
            <a:prstDash val="solid"/>
          </a:ln>
        </p:spPr>
        <p:txBody>
          <a:bodyPr/>
          <a:lstStyle/>
          <a:p>
            <a:endParaRPr lang="es-MX"/>
          </a:p>
        </p:txBody>
      </p:sp>
      <p:sp>
        <p:nvSpPr>
          <p:cNvPr id="14" name="Text 12"/>
          <p:cNvSpPr txBox="1"/>
          <p:nvPr/>
        </p:nvSpPr>
        <p:spPr>
          <a:xfrm>
            <a:off x="6126480" y="246888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rPr>
              <a:t>3</a:t>
            </a:r>
            <a:endParaRPr lang="en-US" sz="2000" dirty="0"/>
          </a:p>
        </p:txBody>
      </p:sp>
      <p:sp>
        <p:nvSpPr>
          <p:cNvPr id="15" name="Text 13"/>
          <p:cNvSpPr txBox="1"/>
          <p:nvPr/>
        </p:nvSpPr>
        <p:spPr>
          <a:xfrm>
            <a:off x="6812280" y="2487168"/>
            <a:ext cx="192024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Medir</a:t>
            </a:r>
            <a:endParaRPr lang="en-US" sz="1800" dirty="0"/>
          </a:p>
        </p:txBody>
      </p:sp>
      <p:sp>
        <p:nvSpPr>
          <p:cNvPr id="16" name="Text 14"/>
          <p:cNvSpPr txBox="1"/>
          <p:nvPr/>
        </p:nvSpPr>
        <p:spPr>
          <a:xfrm>
            <a:off x="6812280" y="2880360"/>
            <a:ext cx="1920240" cy="1188720"/>
          </a:xfrm>
          <a:prstGeom prst="rect">
            <a:avLst/>
          </a:prstGeom>
          <a:noFill/>
          <a:ln/>
        </p:spPr>
        <p:txBody>
          <a:bodyPr wrap="square" lIns="0" tIns="0" rIns="0" bIns="0" rtlCol="0" anchor="t"/>
          <a:lstStyle/>
          <a:p>
            <a:pPr marL="0" indent="0">
              <a:buNone/>
            </a:pPr>
            <a:r>
              <a:rPr lang="en-US" sz="1300" dirty="0">
                <a:solidFill>
                  <a:schemeClr val="tx1"/>
                </a:solidFill>
              </a:rPr>
              <a:t>el efecto de cada decisión en un clasificador (regresión logística)</a:t>
            </a:r>
            <a:endParaRPr lang="en-US" sz="1300" dirty="0"/>
          </a:p>
        </p:txBody>
      </p:sp>
      <p:sp>
        <p:nvSpPr>
          <p:cNvPr id="17" name="Text 15"/>
          <p:cNvSpPr txBox="1"/>
          <p:nvPr/>
        </p:nvSpPr>
        <p:spPr>
          <a:xfrm>
            <a:off x="457200" y="3931920"/>
            <a:ext cx="8229600" cy="320040"/>
          </a:xfrm>
          <a:prstGeom prst="rect">
            <a:avLst/>
          </a:prstGeom>
          <a:noFill/>
          <a:ln/>
        </p:spPr>
        <p:txBody>
          <a:bodyPr wrap="square" lIns="0" tIns="0" rIns="0" bIns="0" rtlCol="0" anchor="t"/>
          <a:lstStyle/>
          <a:p>
            <a:pPr marL="0" indent="0">
              <a:buNone/>
            </a:pPr>
            <a:r>
              <a:rPr lang="en-US" sz="1200" i="1" dirty="0">
                <a:solidFill>
                  <a:schemeClr val="accent6"/>
                </a:solidFill>
              </a:rPr>
              <a:t>Métricas: accuracy, precision, recall, F1 y ROC-AUC · Validación cruzada de 5 folds + conjunto de prueba</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Dos datasets con problemas distintos</a:t>
            </a:r>
            <a:endParaRPr lang="en-US" sz="2800" dirty="0"/>
          </a:p>
        </p:txBody>
      </p:sp>
      <p:sp>
        <p:nvSpPr>
          <p:cNvPr id="3" name="dataset_0"/>
          <p:cNvSpPr/>
          <p:nvPr/>
        </p:nvSpPr>
        <p:spPr>
          <a:xfrm>
            <a:off x="457200" y="1051560"/>
            <a:ext cx="3977640" cy="3520440"/>
          </a:xfrm>
          <a:prstGeom prst="roundRect">
            <a:avLst>
              <a:gd name="adj" fmla="val 2078"/>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685800" y="1188720"/>
            <a:ext cx="356616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Titanic</a:t>
            </a:r>
            <a:endParaRPr lang="en-US" sz="1800" dirty="0"/>
          </a:p>
        </p:txBody>
      </p:sp>
      <p:sp>
        <p:nvSpPr>
          <p:cNvPr id="5" name="Text 3"/>
          <p:cNvSpPr txBox="1"/>
          <p:nvPr/>
        </p:nvSpPr>
        <p:spPr>
          <a:xfrm>
            <a:off x="685800" y="1691640"/>
            <a:ext cx="3566160" cy="1417320"/>
          </a:xfrm>
          <a:prstGeom prst="rect">
            <a:avLst/>
          </a:prstGeom>
          <a:noFill/>
          <a:ln/>
        </p:spPr>
        <p:txBody>
          <a:bodyPr wrap="square" lIns="0" tIns="0" rIns="0" bIns="0" rtlCol="0" anchor="t"/>
          <a:lstStyle/>
          <a:p>
            <a:pPr marL="0" indent="0">
              <a:spcAft>
                <a:spcPts val="300"/>
              </a:spcAft>
              <a:buNone/>
            </a:pPr>
            <a:r>
              <a:rPr lang="en-US" sz="1300" b="1" dirty="0">
                <a:solidFill>
                  <a:schemeClr val="tx1"/>
                </a:solidFill>
              </a:rPr>
              <a:t>Fuente: </a:t>
            </a:r>
            <a:r>
              <a:rPr lang="en-US" sz="1300" dirty="0">
                <a:solidFill>
                  <a:schemeClr val="tx1"/>
                </a:solidFill>
              </a:rPr>
              <a:t>Kaggle (competencia)</a:t>
            </a:r>
            <a:endParaRPr lang="en-US" sz="1300" dirty="0"/>
          </a:p>
          <a:p>
            <a:pPr marL="0" indent="0">
              <a:spcAft>
                <a:spcPts val="300"/>
              </a:spcAft>
              <a:buNone/>
            </a:pPr>
            <a:r>
              <a:rPr lang="en-US" sz="1300" b="1" dirty="0">
                <a:solidFill>
                  <a:schemeClr val="tx1"/>
                </a:solidFill>
              </a:rPr>
              <a:t>Tamaño: </a:t>
            </a:r>
            <a:r>
              <a:rPr lang="en-US" sz="1300" dirty="0">
                <a:solidFill>
                  <a:schemeClr val="tx1"/>
                </a:solidFill>
              </a:rPr>
              <a:t>891 filas x 12 columnas</a:t>
            </a:r>
            <a:endParaRPr lang="en-US" sz="1300" dirty="0"/>
          </a:p>
          <a:p>
            <a:pPr marL="0" indent="0">
              <a:spcAft>
                <a:spcPts val="300"/>
              </a:spcAft>
              <a:buNone/>
            </a:pPr>
            <a:r>
              <a:rPr lang="en-US" sz="1300" b="1" dirty="0">
                <a:solidFill>
                  <a:schemeClr val="tx1"/>
                </a:solidFill>
              </a:rPr>
              <a:t>Cada fila: </a:t>
            </a:r>
            <a:r>
              <a:rPr lang="en-US" sz="1300" dirty="0">
                <a:solidFill>
                  <a:schemeClr val="tx1"/>
                </a:solidFill>
              </a:rPr>
              <a:t>Un pasajero</a:t>
            </a:r>
            <a:endParaRPr lang="en-US" sz="1300" dirty="0"/>
          </a:p>
          <a:p>
            <a:pPr marL="0" indent="0">
              <a:spcAft>
                <a:spcPts val="300"/>
              </a:spcAft>
              <a:buNone/>
            </a:pPr>
            <a:r>
              <a:rPr lang="en-US" sz="1300" b="1" dirty="0">
                <a:solidFill>
                  <a:schemeClr val="tx1"/>
                </a:solidFill>
              </a:rPr>
              <a:t>Objetivo: </a:t>
            </a:r>
            <a:r>
              <a:rPr lang="en-US" sz="1300" dirty="0">
                <a:solidFill>
                  <a:schemeClr val="tx1"/>
                </a:solidFill>
              </a:rPr>
              <a:t>Survived: 0 = no, 1 = sí</a:t>
            </a:r>
            <a:endParaRPr lang="en-US" sz="1300" dirty="0"/>
          </a:p>
        </p:txBody>
      </p:sp>
      <p:sp>
        <p:nvSpPr>
          <p:cNvPr id="6" name="ir_0"/>
          <p:cNvSpPr/>
          <p:nvPr/>
        </p:nvSpPr>
        <p:spPr>
          <a:xfrm>
            <a:off x="685800" y="3200400"/>
            <a:ext cx="3520440" cy="1188720"/>
          </a:xfrm>
          <a:prstGeom prst="roundRect">
            <a:avLst>
              <a:gd name="adj" fmla="val 4615"/>
            </a:avLst>
          </a:prstGeom>
          <a:solidFill>
            <a:schemeClr val="bg1"/>
          </a:solidFill>
          <a:ln w="12700">
            <a:solidFill>
              <a:schemeClr val="bg1"/>
            </a:solidFill>
            <a:prstDash val="solid"/>
          </a:ln>
        </p:spPr>
        <p:txBody>
          <a:bodyPr/>
          <a:lstStyle/>
          <a:p>
            <a:endParaRPr lang="es-MX"/>
          </a:p>
        </p:txBody>
      </p:sp>
      <p:sp>
        <p:nvSpPr>
          <p:cNvPr id="7" name="Text 5"/>
          <p:cNvSpPr txBox="1"/>
          <p:nvPr/>
        </p:nvSpPr>
        <p:spPr>
          <a:xfrm>
            <a:off x="822960" y="3291840"/>
            <a:ext cx="1371600" cy="685800"/>
          </a:xfrm>
          <a:prstGeom prst="rect">
            <a:avLst/>
          </a:prstGeom>
          <a:noFill/>
          <a:ln/>
        </p:spPr>
        <p:txBody>
          <a:bodyPr wrap="square" lIns="0" tIns="0" rIns="0" bIns="0" rtlCol="0" anchor="ctr"/>
          <a:lstStyle/>
          <a:p>
            <a:pPr marL="0" indent="0">
              <a:buNone/>
            </a:pPr>
            <a:r>
              <a:rPr lang="en-US" sz="3600" b="1" dirty="0">
                <a:solidFill>
                  <a:schemeClr val="accent3"/>
                </a:solidFill>
              </a:rPr>
              <a:t>1.61</a:t>
            </a:r>
            <a:endParaRPr lang="en-US" sz="3600" dirty="0"/>
          </a:p>
        </p:txBody>
      </p:sp>
      <p:sp>
        <p:nvSpPr>
          <p:cNvPr id="8" name="Text 6"/>
          <p:cNvSpPr txBox="1"/>
          <p:nvPr/>
        </p:nvSpPr>
        <p:spPr>
          <a:xfrm>
            <a:off x="2194560" y="3337560"/>
            <a:ext cx="1920240" cy="960120"/>
          </a:xfrm>
          <a:prstGeom prst="rect">
            <a:avLst/>
          </a:prstGeom>
          <a:noFill/>
          <a:ln/>
        </p:spPr>
        <p:txBody>
          <a:bodyPr wrap="square" lIns="0" tIns="0" rIns="0" bIns="0" rtlCol="0" anchor="ctr"/>
          <a:lstStyle/>
          <a:p>
            <a:pPr marL="0" indent="0">
              <a:buNone/>
            </a:pPr>
            <a:r>
              <a:rPr lang="en-US" sz="1200" b="1" dirty="0">
                <a:solidFill>
                  <a:schemeClr val="tx1"/>
                </a:solidFill>
              </a:rPr>
              <a:t>Razón de desbalance (IR)</a:t>
            </a:r>
            <a:endParaRPr lang="en-US" sz="1200" dirty="0"/>
          </a:p>
          <a:p>
            <a:pPr marL="0" indent="0">
              <a:buNone/>
            </a:pPr>
            <a:r>
              <a:rPr lang="en-US" sz="1200" dirty="0">
                <a:solidFill>
                  <a:schemeClr val="tx1"/>
                </a:solidFill>
              </a:rPr>
              <a:t>549 vs. 342. IR &gt; 1.5: desbalanceado</a:t>
            </a:r>
            <a:endParaRPr lang="en-US" sz="1200" dirty="0"/>
          </a:p>
        </p:txBody>
      </p:sp>
      <p:sp>
        <p:nvSpPr>
          <p:cNvPr id="9" name="dataset_1"/>
          <p:cNvSpPr/>
          <p:nvPr/>
        </p:nvSpPr>
        <p:spPr>
          <a:xfrm>
            <a:off x="4709160" y="1051560"/>
            <a:ext cx="3977640" cy="3520440"/>
          </a:xfrm>
          <a:prstGeom prst="roundRect">
            <a:avLst>
              <a:gd name="adj" fmla="val 2078"/>
            </a:avLst>
          </a:prstGeom>
          <a:solidFill>
            <a:schemeClr val="bg2"/>
          </a:solidFill>
          <a:ln w="12700">
            <a:solidFill>
              <a:schemeClr val="bg2"/>
            </a:solidFill>
            <a:prstDash val="solid"/>
          </a:ln>
        </p:spPr>
        <p:txBody>
          <a:bodyPr/>
          <a:lstStyle/>
          <a:p>
            <a:endParaRPr lang="es-MX"/>
          </a:p>
        </p:txBody>
      </p:sp>
      <p:sp>
        <p:nvSpPr>
          <p:cNvPr id="10" name="Text 8"/>
          <p:cNvSpPr txBox="1"/>
          <p:nvPr/>
        </p:nvSpPr>
        <p:spPr>
          <a:xfrm>
            <a:off x="4937760" y="1188720"/>
            <a:ext cx="356616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Telco Customer Churn</a:t>
            </a:r>
            <a:endParaRPr lang="en-US" sz="1800" dirty="0"/>
          </a:p>
        </p:txBody>
      </p:sp>
      <p:sp>
        <p:nvSpPr>
          <p:cNvPr id="11" name="Text 9"/>
          <p:cNvSpPr txBox="1"/>
          <p:nvPr/>
        </p:nvSpPr>
        <p:spPr>
          <a:xfrm>
            <a:off x="4937760" y="1691640"/>
            <a:ext cx="3566160" cy="1417320"/>
          </a:xfrm>
          <a:prstGeom prst="rect">
            <a:avLst/>
          </a:prstGeom>
          <a:noFill/>
          <a:ln/>
        </p:spPr>
        <p:txBody>
          <a:bodyPr wrap="square" lIns="0" tIns="0" rIns="0" bIns="0" rtlCol="0" anchor="t"/>
          <a:lstStyle/>
          <a:p>
            <a:pPr marL="0" indent="0">
              <a:spcAft>
                <a:spcPts val="300"/>
              </a:spcAft>
              <a:buNone/>
            </a:pPr>
            <a:r>
              <a:rPr lang="en-US" sz="1300" b="1" dirty="0">
                <a:solidFill>
                  <a:schemeClr val="tx1"/>
                </a:solidFill>
              </a:rPr>
              <a:t>Fuente: </a:t>
            </a:r>
            <a:r>
              <a:rPr lang="en-US" sz="1300" dirty="0">
                <a:solidFill>
                  <a:schemeClr val="tx1"/>
                </a:solidFill>
              </a:rPr>
              <a:t>Kaggle (IBM Sample Data)</a:t>
            </a:r>
            <a:endParaRPr lang="en-US" sz="1300" dirty="0"/>
          </a:p>
          <a:p>
            <a:pPr marL="0" indent="0">
              <a:spcAft>
                <a:spcPts val="300"/>
              </a:spcAft>
              <a:buNone/>
            </a:pPr>
            <a:r>
              <a:rPr lang="en-US" sz="1300" b="1" dirty="0">
                <a:solidFill>
                  <a:schemeClr val="tx1"/>
                </a:solidFill>
              </a:rPr>
              <a:t>Tamaño: </a:t>
            </a:r>
            <a:r>
              <a:rPr lang="en-US" sz="1300" dirty="0">
                <a:solidFill>
                  <a:schemeClr val="tx1"/>
                </a:solidFill>
              </a:rPr>
              <a:t>7,043 filas x 21 columnas</a:t>
            </a:r>
            <a:endParaRPr lang="en-US" sz="1300" dirty="0"/>
          </a:p>
          <a:p>
            <a:pPr marL="0" indent="0">
              <a:spcAft>
                <a:spcPts val="300"/>
              </a:spcAft>
              <a:buNone/>
            </a:pPr>
            <a:r>
              <a:rPr lang="en-US" sz="1300" b="1" dirty="0">
                <a:solidFill>
                  <a:schemeClr val="tx1"/>
                </a:solidFill>
              </a:rPr>
              <a:t>Cada fila: </a:t>
            </a:r>
            <a:r>
              <a:rPr lang="en-US" sz="1300" dirty="0">
                <a:solidFill>
                  <a:schemeClr val="tx1"/>
                </a:solidFill>
              </a:rPr>
              <a:t>Un cliente</a:t>
            </a:r>
            <a:endParaRPr lang="en-US" sz="1300" dirty="0"/>
          </a:p>
          <a:p>
            <a:pPr marL="0" indent="0">
              <a:spcAft>
                <a:spcPts val="300"/>
              </a:spcAft>
              <a:buNone/>
            </a:pPr>
            <a:r>
              <a:rPr lang="en-US" sz="1300" b="1" dirty="0">
                <a:solidFill>
                  <a:schemeClr val="tx1"/>
                </a:solidFill>
              </a:rPr>
              <a:t>Objetivo: </a:t>
            </a:r>
            <a:r>
              <a:rPr lang="en-US" sz="1300" dirty="0">
                <a:solidFill>
                  <a:schemeClr val="tx1"/>
                </a:solidFill>
              </a:rPr>
              <a:t>Churn: se dio de baja (Yes/No)</a:t>
            </a:r>
            <a:endParaRPr lang="en-US" sz="1300" dirty="0"/>
          </a:p>
        </p:txBody>
      </p:sp>
      <p:sp>
        <p:nvSpPr>
          <p:cNvPr id="12" name="ir_1"/>
          <p:cNvSpPr/>
          <p:nvPr/>
        </p:nvSpPr>
        <p:spPr>
          <a:xfrm>
            <a:off x="4937760" y="3200400"/>
            <a:ext cx="3520440" cy="1188720"/>
          </a:xfrm>
          <a:prstGeom prst="roundRect">
            <a:avLst>
              <a:gd name="adj" fmla="val 4615"/>
            </a:avLst>
          </a:prstGeom>
          <a:solidFill>
            <a:schemeClr val="bg1"/>
          </a:solidFill>
          <a:ln w="12700">
            <a:solidFill>
              <a:schemeClr val="bg1"/>
            </a:solidFill>
            <a:prstDash val="solid"/>
          </a:ln>
        </p:spPr>
        <p:txBody>
          <a:bodyPr/>
          <a:lstStyle/>
          <a:p>
            <a:endParaRPr lang="es-MX"/>
          </a:p>
        </p:txBody>
      </p:sp>
      <p:sp>
        <p:nvSpPr>
          <p:cNvPr id="13" name="Text 11"/>
          <p:cNvSpPr txBox="1"/>
          <p:nvPr/>
        </p:nvSpPr>
        <p:spPr>
          <a:xfrm>
            <a:off x="5074920" y="3291840"/>
            <a:ext cx="1371600" cy="685800"/>
          </a:xfrm>
          <a:prstGeom prst="rect">
            <a:avLst/>
          </a:prstGeom>
          <a:noFill/>
          <a:ln/>
        </p:spPr>
        <p:txBody>
          <a:bodyPr wrap="square" lIns="0" tIns="0" rIns="0" bIns="0" rtlCol="0" anchor="ctr"/>
          <a:lstStyle/>
          <a:p>
            <a:pPr marL="0" indent="0">
              <a:buNone/>
            </a:pPr>
            <a:r>
              <a:rPr lang="en-US" sz="3600" b="1" dirty="0">
                <a:solidFill>
                  <a:schemeClr val="accent3"/>
                </a:solidFill>
              </a:rPr>
              <a:t>2.77</a:t>
            </a:r>
            <a:endParaRPr lang="en-US" sz="3600" dirty="0"/>
          </a:p>
        </p:txBody>
      </p:sp>
      <p:sp>
        <p:nvSpPr>
          <p:cNvPr id="14" name="Text 12"/>
          <p:cNvSpPr txBox="1"/>
          <p:nvPr/>
        </p:nvSpPr>
        <p:spPr>
          <a:xfrm>
            <a:off x="6446520" y="3337560"/>
            <a:ext cx="1920240" cy="960120"/>
          </a:xfrm>
          <a:prstGeom prst="rect">
            <a:avLst/>
          </a:prstGeom>
          <a:noFill/>
          <a:ln/>
        </p:spPr>
        <p:txBody>
          <a:bodyPr wrap="square" lIns="0" tIns="0" rIns="0" bIns="0" rtlCol="0" anchor="ctr"/>
          <a:lstStyle/>
          <a:p>
            <a:pPr marL="0" indent="0">
              <a:buNone/>
            </a:pPr>
            <a:r>
              <a:rPr lang="en-US" sz="1200" b="1" dirty="0">
                <a:solidFill>
                  <a:schemeClr val="tx1"/>
                </a:solidFill>
              </a:rPr>
              <a:t>Razón de desbalance (IR)</a:t>
            </a:r>
            <a:endParaRPr lang="en-US" sz="1200" dirty="0"/>
          </a:p>
          <a:p>
            <a:pPr marL="0" indent="0">
              <a:buNone/>
            </a:pPr>
            <a:r>
              <a:rPr lang="en-US" sz="1200" dirty="0">
                <a:solidFill>
                  <a:schemeClr val="tx1"/>
                </a:solidFill>
              </a:rPr>
              <a:t>5,174 vs. 1,869. IR &gt; 1.5: desbalanceado</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Cómo lo hicimos</a:t>
            </a:r>
            <a:endParaRPr lang="en-US" sz="2800" dirty="0"/>
          </a:p>
        </p:txBody>
      </p:sp>
      <p:sp>
        <p:nvSpPr>
          <p:cNvPr id="3" name="paso_1"/>
          <p:cNvSpPr/>
          <p:nvPr/>
        </p:nvSpPr>
        <p:spPr>
          <a:xfrm>
            <a:off x="457200" y="1188720"/>
            <a:ext cx="1069848" cy="2011680"/>
          </a:xfrm>
          <a:prstGeom prst="roundRect">
            <a:avLst>
              <a:gd name="adj" fmla="val 6838"/>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566928" y="1280160"/>
            <a:ext cx="822960" cy="411480"/>
          </a:xfrm>
          <a:prstGeom prst="rect">
            <a:avLst/>
          </a:prstGeom>
          <a:noFill/>
          <a:ln/>
        </p:spPr>
        <p:txBody>
          <a:bodyPr wrap="square" lIns="0" tIns="0" rIns="0" bIns="0" rtlCol="0" anchor="t"/>
          <a:lstStyle/>
          <a:p>
            <a:pPr marL="0" indent="0">
              <a:buNone/>
            </a:pPr>
            <a:r>
              <a:rPr lang="en-US" sz="2200" b="1" dirty="0">
                <a:solidFill>
                  <a:schemeClr val="tx2"/>
                </a:solidFill>
              </a:rPr>
              <a:t>1</a:t>
            </a:r>
            <a:endParaRPr lang="en-US" sz="2200" dirty="0"/>
          </a:p>
        </p:txBody>
      </p:sp>
      <p:sp>
        <p:nvSpPr>
          <p:cNvPr id="5" name="Text 3"/>
          <p:cNvSpPr txBox="1"/>
          <p:nvPr/>
        </p:nvSpPr>
        <p:spPr>
          <a:xfrm>
            <a:off x="566928" y="1737360"/>
            <a:ext cx="886968" cy="320040"/>
          </a:xfrm>
          <a:prstGeom prst="rect">
            <a:avLst/>
          </a:prstGeom>
          <a:noFill/>
          <a:ln/>
        </p:spPr>
        <p:txBody>
          <a:bodyPr wrap="square" lIns="0" tIns="0" rIns="0" bIns="0" rtlCol="0" anchor="t"/>
          <a:lstStyle/>
          <a:p>
            <a:pPr marL="0" indent="0">
              <a:buNone/>
            </a:pPr>
            <a:r>
              <a:rPr lang="en-US" sz="1300" b="1" dirty="0">
                <a:solidFill>
                  <a:schemeClr val="tx2"/>
                </a:solidFill>
              </a:rPr>
              <a:t>Profiling</a:t>
            </a:r>
            <a:endParaRPr lang="en-US" sz="1300" dirty="0"/>
          </a:p>
        </p:txBody>
      </p:sp>
      <p:sp>
        <p:nvSpPr>
          <p:cNvPr id="6" name="Text 4"/>
          <p:cNvSpPr txBox="1"/>
          <p:nvPr/>
        </p:nvSpPr>
        <p:spPr>
          <a:xfrm>
            <a:off x="566928" y="2103120"/>
            <a:ext cx="886968" cy="1005840"/>
          </a:xfrm>
          <a:prstGeom prst="rect">
            <a:avLst/>
          </a:prstGeom>
          <a:noFill/>
          <a:ln/>
        </p:spPr>
        <p:txBody>
          <a:bodyPr wrap="square" lIns="0" tIns="0" rIns="0" bIns="0" rtlCol="0" anchor="t"/>
          <a:lstStyle/>
          <a:p>
            <a:pPr marL="0" indent="0">
              <a:buNone/>
            </a:pPr>
            <a:r>
              <a:rPr lang="en-US" sz="1100" dirty="0">
                <a:solidFill>
                  <a:schemeClr val="tx2"/>
                </a:solidFill>
              </a:rPr>
              <a:t>Tipos, nulos, estadísticos, frecuencias, dominio</a:t>
            </a:r>
            <a:endParaRPr lang="en-US" sz="1100" dirty="0"/>
          </a:p>
        </p:txBody>
      </p:sp>
      <p:sp>
        <p:nvSpPr>
          <p:cNvPr id="7" name="paso_2"/>
          <p:cNvSpPr/>
          <p:nvPr/>
        </p:nvSpPr>
        <p:spPr>
          <a:xfrm>
            <a:off x="1650492" y="1188720"/>
            <a:ext cx="1069848" cy="2011680"/>
          </a:xfrm>
          <a:prstGeom prst="roundRect">
            <a:avLst>
              <a:gd name="adj" fmla="val 6838"/>
            </a:avLst>
          </a:prstGeom>
          <a:solidFill>
            <a:schemeClr val="bg2"/>
          </a:solidFill>
          <a:ln w="12700">
            <a:solidFill>
              <a:schemeClr val="bg2"/>
            </a:solidFill>
            <a:prstDash val="solid"/>
          </a:ln>
        </p:spPr>
        <p:txBody>
          <a:bodyPr/>
          <a:lstStyle/>
          <a:p>
            <a:endParaRPr lang="es-MX"/>
          </a:p>
        </p:txBody>
      </p:sp>
      <p:sp>
        <p:nvSpPr>
          <p:cNvPr id="8" name="Text 6"/>
          <p:cNvSpPr txBox="1"/>
          <p:nvPr/>
        </p:nvSpPr>
        <p:spPr>
          <a:xfrm>
            <a:off x="1760220" y="1280160"/>
            <a:ext cx="822960" cy="411480"/>
          </a:xfrm>
          <a:prstGeom prst="rect">
            <a:avLst/>
          </a:prstGeom>
          <a:noFill/>
          <a:ln/>
        </p:spPr>
        <p:txBody>
          <a:bodyPr wrap="square" lIns="0" tIns="0" rIns="0" bIns="0" rtlCol="0" anchor="t"/>
          <a:lstStyle/>
          <a:p>
            <a:pPr marL="0" indent="0">
              <a:buNone/>
            </a:pPr>
            <a:r>
              <a:rPr lang="en-US" sz="2200" b="1" dirty="0">
                <a:solidFill>
                  <a:schemeClr val="tx2"/>
                </a:solidFill>
              </a:rPr>
              <a:t>2</a:t>
            </a:r>
            <a:endParaRPr lang="en-US" sz="2200" dirty="0"/>
          </a:p>
        </p:txBody>
      </p:sp>
      <p:sp>
        <p:nvSpPr>
          <p:cNvPr id="9" name="Text 7"/>
          <p:cNvSpPr txBox="1"/>
          <p:nvPr/>
        </p:nvSpPr>
        <p:spPr>
          <a:xfrm>
            <a:off x="1760220" y="1737360"/>
            <a:ext cx="886968" cy="320040"/>
          </a:xfrm>
          <a:prstGeom prst="rect">
            <a:avLst/>
          </a:prstGeom>
          <a:noFill/>
          <a:ln/>
        </p:spPr>
        <p:txBody>
          <a:bodyPr wrap="square" lIns="0" tIns="0" rIns="0" bIns="0" rtlCol="0" anchor="t"/>
          <a:lstStyle/>
          <a:p>
            <a:pPr marL="0" indent="0">
              <a:buNone/>
            </a:pPr>
            <a:r>
              <a:rPr lang="en-US" sz="1300" b="1" dirty="0">
                <a:solidFill>
                  <a:schemeClr val="tx2"/>
                </a:solidFill>
              </a:rPr>
              <a:t>EDA</a:t>
            </a:r>
            <a:endParaRPr lang="en-US" sz="1300" dirty="0"/>
          </a:p>
        </p:txBody>
      </p:sp>
      <p:sp>
        <p:nvSpPr>
          <p:cNvPr id="10" name="Text 8"/>
          <p:cNvSpPr txBox="1"/>
          <p:nvPr/>
        </p:nvSpPr>
        <p:spPr>
          <a:xfrm>
            <a:off x="1760220" y="2103120"/>
            <a:ext cx="886968" cy="1005840"/>
          </a:xfrm>
          <a:prstGeom prst="rect">
            <a:avLst/>
          </a:prstGeom>
          <a:noFill/>
          <a:ln/>
        </p:spPr>
        <p:txBody>
          <a:bodyPr wrap="square" lIns="0" tIns="0" rIns="0" bIns="0" rtlCol="0" anchor="t"/>
          <a:lstStyle/>
          <a:p>
            <a:pPr marL="0" indent="0">
              <a:buNone/>
            </a:pPr>
            <a:r>
              <a:rPr lang="en-US" sz="1100" dirty="0">
                <a:solidFill>
                  <a:schemeClr val="tx2"/>
                </a:solidFill>
              </a:rPr>
              <a:t>Distribuciones, boxplots, correlación, clase</a:t>
            </a:r>
            <a:endParaRPr lang="en-US" sz="1100" dirty="0"/>
          </a:p>
        </p:txBody>
      </p:sp>
      <p:sp>
        <p:nvSpPr>
          <p:cNvPr id="11" name="paso_3"/>
          <p:cNvSpPr/>
          <p:nvPr/>
        </p:nvSpPr>
        <p:spPr>
          <a:xfrm>
            <a:off x="2843784" y="1188720"/>
            <a:ext cx="1069848" cy="2011680"/>
          </a:xfrm>
          <a:prstGeom prst="roundRect">
            <a:avLst>
              <a:gd name="adj" fmla="val 6838"/>
            </a:avLst>
          </a:prstGeom>
          <a:solidFill>
            <a:schemeClr val="accent2"/>
          </a:solidFill>
          <a:ln w="12700">
            <a:solidFill>
              <a:schemeClr val="accent2"/>
            </a:solidFill>
            <a:prstDash val="solid"/>
          </a:ln>
        </p:spPr>
        <p:txBody>
          <a:bodyPr/>
          <a:lstStyle/>
          <a:p>
            <a:endParaRPr lang="es-MX"/>
          </a:p>
        </p:txBody>
      </p:sp>
      <p:sp>
        <p:nvSpPr>
          <p:cNvPr id="12" name="Text 10"/>
          <p:cNvSpPr txBox="1"/>
          <p:nvPr/>
        </p:nvSpPr>
        <p:spPr>
          <a:xfrm>
            <a:off x="2953512" y="1280160"/>
            <a:ext cx="822960" cy="411480"/>
          </a:xfrm>
          <a:prstGeom prst="rect">
            <a:avLst/>
          </a:prstGeom>
          <a:noFill/>
          <a:ln/>
        </p:spPr>
        <p:txBody>
          <a:bodyPr wrap="square" lIns="0" tIns="0" rIns="0" bIns="0" rtlCol="0" anchor="t"/>
          <a:lstStyle/>
          <a:p>
            <a:pPr marL="0" indent="0">
              <a:buNone/>
            </a:pPr>
            <a:r>
              <a:rPr lang="en-US" sz="2200" b="1" dirty="0">
                <a:solidFill>
                  <a:schemeClr val="bg1"/>
                </a:solidFill>
              </a:rPr>
              <a:t>3</a:t>
            </a:r>
            <a:endParaRPr lang="en-US" sz="2200" dirty="0"/>
          </a:p>
        </p:txBody>
      </p:sp>
      <p:sp>
        <p:nvSpPr>
          <p:cNvPr id="13" name="Text 11"/>
          <p:cNvSpPr txBox="1"/>
          <p:nvPr/>
        </p:nvSpPr>
        <p:spPr>
          <a:xfrm>
            <a:off x="2953512" y="1737360"/>
            <a:ext cx="886968" cy="320040"/>
          </a:xfrm>
          <a:prstGeom prst="rect">
            <a:avLst/>
          </a:prstGeom>
          <a:noFill/>
          <a:ln/>
        </p:spPr>
        <p:txBody>
          <a:bodyPr wrap="square" lIns="0" tIns="0" rIns="0" bIns="0" rtlCol="0" anchor="t"/>
          <a:lstStyle/>
          <a:p>
            <a:pPr marL="0" indent="0">
              <a:buNone/>
            </a:pPr>
            <a:r>
              <a:rPr lang="en-US" sz="1300" b="1" dirty="0">
                <a:solidFill>
                  <a:schemeClr val="bg1"/>
                </a:solidFill>
              </a:rPr>
              <a:t>Separación</a:t>
            </a:r>
            <a:endParaRPr lang="en-US" sz="1300" dirty="0"/>
          </a:p>
        </p:txBody>
      </p:sp>
      <p:sp>
        <p:nvSpPr>
          <p:cNvPr id="14" name="Text 12"/>
          <p:cNvSpPr txBox="1"/>
          <p:nvPr/>
        </p:nvSpPr>
        <p:spPr>
          <a:xfrm>
            <a:off x="2953512" y="2103120"/>
            <a:ext cx="886968" cy="1005840"/>
          </a:xfrm>
          <a:prstGeom prst="rect">
            <a:avLst/>
          </a:prstGeom>
          <a:noFill/>
          <a:ln/>
        </p:spPr>
        <p:txBody>
          <a:bodyPr wrap="square" lIns="0" tIns="0" rIns="0" bIns="0" rtlCol="0" anchor="t"/>
          <a:lstStyle/>
          <a:p>
            <a:pPr marL="0" indent="0">
              <a:buNone/>
            </a:pPr>
            <a:r>
              <a:rPr lang="en-US" sz="1100" dirty="0">
                <a:solidFill>
                  <a:schemeClr val="bg1"/>
                </a:solidFill>
              </a:rPr>
              <a:t>80/20 entre train y test, estratificada</a:t>
            </a:r>
            <a:endParaRPr lang="en-US" sz="1100" dirty="0"/>
          </a:p>
        </p:txBody>
      </p:sp>
      <p:sp>
        <p:nvSpPr>
          <p:cNvPr id="15" name="paso_4"/>
          <p:cNvSpPr/>
          <p:nvPr/>
        </p:nvSpPr>
        <p:spPr>
          <a:xfrm>
            <a:off x="4037076" y="1188720"/>
            <a:ext cx="1069848" cy="2011680"/>
          </a:xfrm>
          <a:prstGeom prst="roundRect">
            <a:avLst>
              <a:gd name="adj" fmla="val 6838"/>
            </a:avLst>
          </a:prstGeom>
          <a:solidFill>
            <a:schemeClr val="tx2"/>
          </a:solidFill>
          <a:ln w="12700">
            <a:solidFill>
              <a:schemeClr val="tx2"/>
            </a:solidFill>
            <a:prstDash val="solid"/>
          </a:ln>
        </p:spPr>
        <p:txBody>
          <a:bodyPr/>
          <a:lstStyle/>
          <a:p>
            <a:endParaRPr lang="es-MX"/>
          </a:p>
        </p:txBody>
      </p:sp>
      <p:sp>
        <p:nvSpPr>
          <p:cNvPr id="16" name="Text 14"/>
          <p:cNvSpPr txBox="1"/>
          <p:nvPr/>
        </p:nvSpPr>
        <p:spPr>
          <a:xfrm>
            <a:off x="4146804" y="1280160"/>
            <a:ext cx="822960" cy="411480"/>
          </a:xfrm>
          <a:prstGeom prst="rect">
            <a:avLst/>
          </a:prstGeom>
          <a:noFill/>
          <a:ln/>
        </p:spPr>
        <p:txBody>
          <a:bodyPr wrap="square" lIns="0" tIns="0" rIns="0" bIns="0" rtlCol="0" anchor="t"/>
          <a:lstStyle/>
          <a:p>
            <a:pPr marL="0" indent="0">
              <a:buNone/>
            </a:pPr>
            <a:r>
              <a:rPr lang="en-US" sz="2200" b="1" dirty="0">
                <a:solidFill>
                  <a:schemeClr val="bg1"/>
                </a:solidFill>
              </a:rPr>
              <a:t>4</a:t>
            </a:r>
            <a:endParaRPr lang="en-US" sz="2200" dirty="0"/>
          </a:p>
        </p:txBody>
      </p:sp>
      <p:sp>
        <p:nvSpPr>
          <p:cNvPr id="17" name="Text 15"/>
          <p:cNvSpPr txBox="1"/>
          <p:nvPr/>
        </p:nvSpPr>
        <p:spPr>
          <a:xfrm>
            <a:off x="4146804" y="1737360"/>
            <a:ext cx="886968" cy="320040"/>
          </a:xfrm>
          <a:prstGeom prst="rect">
            <a:avLst/>
          </a:prstGeom>
          <a:noFill/>
          <a:ln/>
        </p:spPr>
        <p:txBody>
          <a:bodyPr wrap="square" lIns="0" tIns="0" rIns="0" bIns="0" rtlCol="0" anchor="t"/>
          <a:lstStyle/>
          <a:p>
            <a:pPr marL="0" indent="0">
              <a:buNone/>
            </a:pPr>
            <a:r>
              <a:rPr lang="en-US" sz="1300" b="1" dirty="0">
                <a:solidFill>
                  <a:schemeClr val="bg1"/>
                </a:solidFill>
              </a:rPr>
              <a:t>Imputación</a:t>
            </a:r>
            <a:endParaRPr lang="en-US" sz="1300" dirty="0"/>
          </a:p>
        </p:txBody>
      </p:sp>
      <p:sp>
        <p:nvSpPr>
          <p:cNvPr id="18" name="Text 16"/>
          <p:cNvSpPr txBox="1"/>
          <p:nvPr/>
        </p:nvSpPr>
        <p:spPr>
          <a:xfrm>
            <a:off x="4146804" y="2103120"/>
            <a:ext cx="886968" cy="1005840"/>
          </a:xfrm>
          <a:prstGeom prst="rect">
            <a:avLst/>
          </a:prstGeom>
          <a:noFill/>
          <a:ln/>
        </p:spPr>
        <p:txBody>
          <a:bodyPr wrap="square" lIns="0" tIns="0" rIns="0" bIns="0" rtlCol="0" anchor="t"/>
          <a:lstStyle/>
          <a:p>
            <a:pPr marL="0" indent="0">
              <a:buNone/>
            </a:pPr>
            <a:r>
              <a:rPr lang="en-US" sz="1100" dirty="0">
                <a:solidFill>
                  <a:schemeClr val="bg1"/>
                </a:solidFill>
              </a:rPr>
              <a:t>Media + moda vs. mediana + "Desconocido"</a:t>
            </a:r>
            <a:endParaRPr lang="en-US" sz="1100" dirty="0"/>
          </a:p>
        </p:txBody>
      </p:sp>
      <p:sp>
        <p:nvSpPr>
          <p:cNvPr id="19" name="paso_5"/>
          <p:cNvSpPr/>
          <p:nvPr/>
        </p:nvSpPr>
        <p:spPr>
          <a:xfrm>
            <a:off x="5230368" y="1188720"/>
            <a:ext cx="1069848" cy="2011680"/>
          </a:xfrm>
          <a:prstGeom prst="roundRect">
            <a:avLst>
              <a:gd name="adj" fmla="val 6838"/>
            </a:avLst>
          </a:prstGeom>
          <a:solidFill>
            <a:schemeClr val="tx2"/>
          </a:solidFill>
          <a:ln w="12700">
            <a:solidFill>
              <a:schemeClr val="tx2"/>
            </a:solidFill>
            <a:prstDash val="solid"/>
          </a:ln>
        </p:spPr>
        <p:txBody>
          <a:bodyPr/>
          <a:lstStyle/>
          <a:p>
            <a:endParaRPr lang="es-MX"/>
          </a:p>
        </p:txBody>
      </p:sp>
      <p:sp>
        <p:nvSpPr>
          <p:cNvPr id="20" name="Text 18"/>
          <p:cNvSpPr txBox="1"/>
          <p:nvPr/>
        </p:nvSpPr>
        <p:spPr>
          <a:xfrm>
            <a:off x="5340096" y="1280160"/>
            <a:ext cx="822960" cy="411480"/>
          </a:xfrm>
          <a:prstGeom prst="rect">
            <a:avLst/>
          </a:prstGeom>
          <a:noFill/>
          <a:ln/>
        </p:spPr>
        <p:txBody>
          <a:bodyPr wrap="square" lIns="0" tIns="0" rIns="0" bIns="0" rtlCol="0" anchor="t"/>
          <a:lstStyle/>
          <a:p>
            <a:pPr marL="0" indent="0">
              <a:buNone/>
            </a:pPr>
            <a:r>
              <a:rPr lang="en-US" sz="2200" b="1" dirty="0">
                <a:solidFill>
                  <a:schemeClr val="bg1"/>
                </a:solidFill>
              </a:rPr>
              <a:t>5</a:t>
            </a:r>
            <a:endParaRPr lang="en-US" sz="2200" dirty="0"/>
          </a:p>
        </p:txBody>
      </p:sp>
      <p:sp>
        <p:nvSpPr>
          <p:cNvPr id="21" name="Text 19"/>
          <p:cNvSpPr txBox="1"/>
          <p:nvPr/>
        </p:nvSpPr>
        <p:spPr>
          <a:xfrm>
            <a:off x="5340096" y="1737360"/>
            <a:ext cx="886968" cy="320040"/>
          </a:xfrm>
          <a:prstGeom prst="rect">
            <a:avLst/>
          </a:prstGeom>
          <a:noFill/>
          <a:ln/>
        </p:spPr>
        <p:txBody>
          <a:bodyPr wrap="square" lIns="0" tIns="0" rIns="0" bIns="0" rtlCol="0" anchor="t"/>
          <a:lstStyle/>
          <a:p>
            <a:pPr marL="0" indent="0">
              <a:buNone/>
            </a:pPr>
            <a:r>
              <a:rPr lang="en-US" sz="1300" b="1" dirty="0">
                <a:solidFill>
                  <a:schemeClr val="bg1"/>
                </a:solidFill>
              </a:rPr>
              <a:t>Outliers</a:t>
            </a:r>
            <a:endParaRPr lang="en-US" sz="1300" dirty="0"/>
          </a:p>
        </p:txBody>
      </p:sp>
      <p:sp>
        <p:nvSpPr>
          <p:cNvPr id="22" name="Text 20"/>
          <p:cNvSpPr txBox="1"/>
          <p:nvPr/>
        </p:nvSpPr>
        <p:spPr>
          <a:xfrm>
            <a:off x="5340096" y="2103120"/>
            <a:ext cx="886968" cy="1005840"/>
          </a:xfrm>
          <a:prstGeom prst="rect">
            <a:avLst/>
          </a:prstGeom>
          <a:noFill/>
          <a:ln/>
        </p:spPr>
        <p:txBody>
          <a:bodyPr wrap="square" lIns="0" tIns="0" rIns="0" bIns="0" rtlCol="0" anchor="t"/>
          <a:lstStyle/>
          <a:p>
            <a:pPr marL="0" indent="0">
              <a:buNone/>
            </a:pPr>
            <a:r>
              <a:rPr lang="en-US" sz="1100" dirty="0">
                <a:solidFill>
                  <a:schemeClr val="bg1"/>
                </a:solidFill>
              </a:rPr>
              <a:t>Winsorización: IQR vs. percentiles 1-99</a:t>
            </a:r>
            <a:endParaRPr lang="en-US" sz="1100" dirty="0"/>
          </a:p>
        </p:txBody>
      </p:sp>
      <p:sp>
        <p:nvSpPr>
          <p:cNvPr id="23" name="paso_6"/>
          <p:cNvSpPr/>
          <p:nvPr/>
        </p:nvSpPr>
        <p:spPr>
          <a:xfrm>
            <a:off x="6423660" y="1188720"/>
            <a:ext cx="1069848" cy="2011680"/>
          </a:xfrm>
          <a:prstGeom prst="roundRect">
            <a:avLst>
              <a:gd name="adj" fmla="val 6838"/>
            </a:avLst>
          </a:prstGeom>
          <a:solidFill>
            <a:schemeClr val="tx2"/>
          </a:solidFill>
          <a:ln w="12700">
            <a:solidFill>
              <a:schemeClr val="tx2"/>
            </a:solidFill>
            <a:prstDash val="solid"/>
          </a:ln>
        </p:spPr>
        <p:txBody>
          <a:bodyPr/>
          <a:lstStyle/>
          <a:p>
            <a:endParaRPr lang="es-MX"/>
          </a:p>
        </p:txBody>
      </p:sp>
      <p:sp>
        <p:nvSpPr>
          <p:cNvPr id="24" name="Text 22"/>
          <p:cNvSpPr txBox="1"/>
          <p:nvPr/>
        </p:nvSpPr>
        <p:spPr>
          <a:xfrm>
            <a:off x="6533388" y="1280160"/>
            <a:ext cx="822960" cy="411480"/>
          </a:xfrm>
          <a:prstGeom prst="rect">
            <a:avLst/>
          </a:prstGeom>
          <a:noFill/>
          <a:ln/>
        </p:spPr>
        <p:txBody>
          <a:bodyPr wrap="square" lIns="0" tIns="0" rIns="0" bIns="0" rtlCol="0" anchor="t"/>
          <a:lstStyle/>
          <a:p>
            <a:pPr marL="0" indent="0">
              <a:buNone/>
            </a:pPr>
            <a:r>
              <a:rPr lang="en-US" sz="2200" b="1" dirty="0">
                <a:solidFill>
                  <a:schemeClr val="bg1"/>
                </a:solidFill>
              </a:rPr>
              <a:t>6</a:t>
            </a:r>
            <a:endParaRPr lang="en-US" sz="2200" dirty="0"/>
          </a:p>
        </p:txBody>
      </p:sp>
      <p:sp>
        <p:nvSpPr>
          <p:cNvPr id="25" name="Text 23"/>
          <p:cNvSpPr txBox="1"/>
          <p:nvPr/>
        </p:nvSpPr>
        <p:spPr>
          <a:xfrm>
            <a:off x="6533388" y="1737360"/>
            <a:ext cx="886968" cy="320040"/>
          </a:xfrm>
          <a:prstGeom prst="rect">
            <a:avLst/>
          </a:prstGeom>
          <a:noFill/>
          <a:ln/>
        </p:spPr>
        <p:txBody>
          <a:bodyPr wrap="square" lIns="0" tIns="0" rIns="0" bIns="0" rtlCol="0" anchor="t"/>
          <a:lstStyle/>
          <a:p>
            <a:pPr marL="0" indent="0">
              <a:buNone/>
            </a:pPr>
            <a:r>
              <a:rPr lang="en-US" sz="1300" b="1" dirty="0">
                <a:solidFill>
                  <a:schemeClr val="bg1"/>
                </a:solidFill>
              </a:rPr>
              <a:t>Balanceo</a:t>
            </a:r>
            <a:endParaRPr lang="en-US" sz="1300" dirty="0"/>
          </a:p>
        </p:txBody>
      </p:sp>
      <p:sp>
        <p:nvSpPr>
          <p:cNvPr id="26" name="Text 24"/>
          <p:cNvSpPr txBox="1"/>
          <p:nvPr/>
        </p:nvSpPr>
        <p:spPr>
          <a:xfrm>
            <a:off x="6533388" y="2103120"/>
            <a:ext cx="886968" cy="1005840"/>
          </a:xfrm>
          <a:prstGeom prst="rect">
            <a:avLst/>
          </a:prstGeom>
          <a:noFill/>
          <a:ln/>
        </p:spPr>
        <p:txBody>
          <a:bodyPr wrap="square" lIns="0" tIns="0" rIns="0" bIns="0" rtlCol="0" anchor="t"/>
          <a:lstStyle/>
          <a:p>
            <a:pPr marL="0" indent="0">
              <a:buNone/>
            </a:pPr>
            <a:r>
              <a:rPr lang="en-US" sz="1100" dirty="0">
                <a:solidFill>
                  <a:schemeClr val="bg1"/>
                </a:solidFill>
              </a:rPr>
              <a:t>5 estrategias, solo en entrenamiento</a:t>
            </a:r>
            <a:endParaRPr lang="en-US" sz="1100" dirty="0"/>
          </a:p>
        </p:txBody>
      </p:sp>
      <p:sp>
        <p:nvSpPr>
          <p:cNvPr id="27" name="paso_7"/>
          <p:cNvSpPr/>
          <p:nvPr/>
        </p:nvSpPr>
        <p:spPr>
          <a:xfrm>
            <a:off x="7616952" y="1188720"/>
            <a:ext cx="1069848" cy="2011680"/>
          </a:xfrm>
          <a:prstGeom prst="roundRect">
            <a:avLst>
              <a:gd name="adj" fmla="val 6838"/>
            </a:avLst>
          </a:prstGeom>
          <a:solidFill>
            <a:schemeClr val="tx2"/>
          </a:solidFill>
          <a:ln w="12700">
            <a:solidFill>
              <a:schemeClr val="tx2"/>
            </a:solidFill>
            <a:prstDash val="solid"/>
          </a:ln>
        </p:spPr>
        <p:txBody>
          <a:bodyPr/>
          <a:lstStyle/>
          <a:p>
            <a:endParaRPr lang="es-MX"/>
          </a:p>
        </p:txBody>
      </p:sp>
      <p:sp>
        <p:nvSpPr>
          <p:cNvPr id="28" name="Text 26"/>
          <p:cNvSpPr txBox="1"/>
          <p:nvPr/>
        </p:nvSpPr>
        <p:spPr>
          <a:xfrm>
            <a:off x="7726680" y="1280160"/>
            <a:ext cx="822960" cy="411480"/>
          </a:xfrm>
          <a:prstGeom prst="rect">
            <a:avLst/>
          </a:prstGeom>
          <a:noFill/>
          <a:ln/>
        </p:spPr>
        <p:txBody>
          <a:bodyPr wrap="square" lIns="0" tIns="0" rIns="0" bIns="0" rtlCol="0" anchor="t"/>
          <a:lstStyle/>
          <a:p>
            <a:pPr marL="0" indent="0">
              <a:buNone/>
            </a:pPr>
            <a:r>
              <a:rPr lang="en-US" sz="2200" b="1" dirty="0">
                <a:solidFill>
                  <a:schemeClr val="bg1"/>
                </a:solidFill>
              </a:rPr>
              <a:t>7</a:t>
            </a:r>
            <a:endParaRPr lang="en-US" sz="2200" dirty="0"/>
          </a:p>
        </p:txBody>
      </p:sp>
      <p:sp>
        <p:nvSpPr>
          <p:cNvPr id="29" name="Text 27"/>
          <p:cNvSpPr txBox="1"/>
          <p:nvPr/>
        </p:nvSpPr>
        <p:spPr>
          <a:xfrm>
            <a:off x="7726680" y="1737360"/>
            <a:ext cx="886968" cy="320040"/>
          </a:xfrm>
          <a:prstGeom prst="rect">
            <a:avLst/>
          </a:prstGeom>
          <a:noFill/>
          <a:ln/>
        </p:spPr>
        <p:txBody>
          <a:bodyPr wrap="square" lIns="0" tIns="0" rIns="0" bIns="0" rtlCol="0" anchor="t"/>
          <a:lstStyle/>
          <a:p>
            <a:pPr marL="0" indent="0">
              <a:buNone/>
            </a:pPr>
            <a:r>
              <a:rPr lang="en-US" sz="1300" b="1" dirty="0">
                <a:solidFill>
                  <a:schemeClr val="bg1"/>
                </a:solidFill>
              </a:rPr>
              <a:t>Evaluación</a:t>
            </a:r>
            <a:endParaRPr lang="en-US" sz="1300" dirty="0"/>
          </a:p>
        </p:txBody>
      </p:sp>
      <p:sp>
        <p:nvSpPr>
          <p:cNvPr id="30" name="Text 28"/>
          <p:cNvSpPr txBox="1"/>
          <p:nvPr/>
        </p:nvSpPr>
        <p:spPr>
          <a:xfrm>
            <a:off x="7726680" y="2103120"/>
            <a:ext cx="886968" cy="1005840"/>
          </a:xfrm>
          <a:prstGeom prst="rect">
            <a:avLst/>
          </a:prstGeom>
          <a:noFill/>
          <a:ln/>
        </p:spPr>
        <p:txBody>
          <a:bodyPr wrap="square" lIns="0" tIns="0" rIns="0" bIns="0" rtlCol="0" anchor="t"/>
          <a:lstStyle/>
          <a:p>
            <a:pPr marL="0" indent="0">
              <a:buNone/>
            </a:pPr>
            <a:r>
              <a:rPr lang="en-US" sz="1100" dirty="0">
                <a:solidFill>
                  <a:schemeClr val="bg1"/>
                </a:solidFill>
              </a:rPr>
              <a:t>CV de 5 folds y prueba final</a:t>
            </a:r>
            <a:endParaRPr lang="en-US" sz="1100" dirty="0"/>
          </a:p>
        </p:txBody>
      </p:sp>
      <p:sp>
        <p:nvSpPr>
          <p:cNvPr id="31" name="regla_fuga"/>
          <p:cNvSpPr/>
          <p:nvPr/>
        </p:nvSpPr>
        <p:spPr>
          <a:xfrm>
            <a:off x="457200" y="3474720"/>
            <a:ext cx="8229600" cy="1097280"/>
          </a:xfrm>
          <a:prstGeom prst="roundRect">
            <a:avLst>
              <a:gd name="adj" fmla="val 6667"/>
            </a:avLst>
          </a:prstGeom>
          <a:solidFill>
            <a:schemeClr val="bg1"/>
          </a:solidFill>
          <a:ln w="12700">
            <a:solidFill>
              <a:srgbClr val="C9D2DC"/>
            </a:solidFill>
            <a:prstDash val="solid"/>
          </a:ln>
        </p:spPr>
        <p:txBody>
          <a:bodyPr/>
          <a:lstStyle/>
          <a:p>
            <a:endParaRPr lang="es-MX"/>
          </a:p>
        </p:txBody>
      </p:sp>
      <p:sp>
        <p:nvSpPr>
          <p:cNvPr id="32" name="Text 30"/>
          <p:cNvSpPr txBox="1"/>
          <p:nvPr/>
        </p:nvSpPr>
        <p:spPr>
          <a:xfrm>
            <a:off x="685800" y="3566160"/>
            <a:ext cx="7772400" cy="914400"/>
          </a:xfrm>
          <a:prstGeom prst="rect">
            <a:avLst/>
          </a:prstGeom>
          <a:noFill/>
          <a:ln/>
        </p:spPr>
        <p:txBody>
          <a:bodyPr wrap="square" lIns="0" tIns="0" rIns="0" bIns="0" rtlCol="0" anchor="ctr"/>
          <a:lstStyle/>
          <a:p>
            <a:pPr marL="0" indent="0">
              <a:buNone/>
            </a:pPr>
            <a:r>
              <a:rPr lang="en-US" sz="1300" b="1" dirty="0">
                <a:solidFill>
                  <a:schemeClr val="tx1"/>
                </a:solidFill>
              </a:rPr>
              <a:t>Regla para evitar fuga de información: </a:t>
            </a:r>
            <a:r>
              <a:rPr lang="en-US" sz="1300" dirty="0">
                <a:solidFill>
                  <a:schemeClr val="tx1"/>
                </a:solidFill>
              </a:rPr>
              <a:t>la imputación, el escalado, la codificación, la winsorización y el remuestreo van dentro de pipelines de scikit-learn / imbalanced-learn. Así, sus parámetros se calculan solo con los datos de entrenamiento de cada fold y el conjunto de prueba se usa una sola vez, al final.</a:t>
            </a:r>
            <a:endParaRPr lang="en-US" sz="1300" dirty="0"/>
          </a:p>
        </p:txBody>
      </p:sp>
      <p:sp>
        <p:nvSpPr>
          <p:cNvPr id="33"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Data profiling: qué encontramos</a:t>
            </a:r>
            <a:endParaRPr lang="en-US" sz="2800" dirty="0"/>
          </a:p>
        </p:txBody>
      </p:sp>
      <p:graphicFrame>
        <p:nvGraphicFramePr>
          <p:cNvPr id="6" name="tabla_profiling"/>
          <p:cNvGraphicFramePr>
            <a:graphicFrameLocks noGrp="1"/>
          </p:cNvGraphicFramePr>
          <p:nvPr>
            <p:extLst>
              <p:ext uri="{D42A27DB-BD31-4B8C-83A1-F6EECF244321}">
                <p14:modId xmlns:p14="http://schemas.microsoft.com/office/powerpoint/2010/main" val="1579011935"/>
              </p:ext>
            </p:extLst>
          </p:nvPr>
        </p:nvGraphicFramePr>
        <p:xfrm>
          <a:off x="457200" y="1051560"/>
          <a:ext cx="5394960" cy="3243072"/>
        </p:xfrm>
        <a:graphic>
          <a:graphicData uri="http://schemas.openxmlformats.org/drawingml/2006/table">
            <a:tbl>
              <a:tblPr/>
              <a:tblGrid>
                <a:gridCol w="160020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874520">
                  <a:extLst>
                    <a:ext uri="{9D8B030D-6E8A-4147-A177-3AD203B41FA5}">
                      <a16:colId xmlns:a16="http://schemas.microsoft.com/office/drawing/2014/main" val="20002"/>
                    </a:ext>
                  </a:extLst>
                </a:gridCol>
              </a:tblGrid>
              <a:tr h="384048">
                <a:tc>
                  <a:txBody>
                    <a:bodyPr/>
                    <a:lstStyle/>
                    <a:p>
                      <a:pPr marL="0" indent="0">
                        <a:buNone/>
                      </a:pPr>
                      <a:r>
                        <a:rPr lang="en-US" sz="1100" b="1" dirty="0">
                          <a:solidFill>
                            <a:srgbClr val="FFFFFF"/>
                          </a:solidFill>
                        </a:rPr>
                        <a:t>Problema</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Titanic</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Telco Customer Churn</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384048">
                <a:tc>
                  <a:txBody>
                    <a:bodyPr/>
                    <a:lstStyle/>
                    <a:p>
                      <a:pPr marL="0" indent="0">
                        <a:buNone/>
                      </a:pPr>
                      <a:r>
                        <a:rPr lang="en-US" sz="1100" b="1" dirty="0">
                          <a:solidFill>
                            <a:srgbClr val="1B1F24"/>
                          </a:solidFill>
                        </a:rPr>
                        <a:t>Valores ausentes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Age 19.9 %, Cabin 77.1 %, Embarked 2 filas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TotalCharges: 11 vacíos escondidos como texto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100" b="1" dirty="0">
                          <a:solidFill>
                            <a:srgbClr val="1B1F24"/>
                          </a:solidFill>
                        </a:rPr>
                        <a:t>Tipos incorrectos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Pclass es categórica pero viene como número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TotalCharges viene como texto; SeniorCitizen es 0/1</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100" b="1" dirty="0">
                          <a:solidFill>
                            <a:srgbClr val="1B1F24"/>
                          </a:solidFill>
                        </a:rPr>
                        <a:t>Valores extremos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Fare: asimetría 4.79, máximo 512.33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Ninguno según IQR</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100" b="1" dirty="0">
                          <a:solidFill>
                            <a:srgbClr val="1B1F24"/>
                          </a:solidFill>
                        </a:rPr>
                        <a:t>Valores sospechosos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15 pasajeros con Fare = 0</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Categorías redundantes ("No internet service")</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100" b="1" dirty="0">
                          <a:solidFill>
                            <a:srgbClr val="1B1F24"/>
                          </a:solidFill>
                        </a:rPr>
                        <a:t>Identificadores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PassengerId, Name, Ticket</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customerID</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100" b="1" dirty="0">
                          <a:solidFill>
                            <a:srgbClr val="1B1F24"/>
                          </a:solidFill>
                        </a:rPr>
                        <a:t>Correlación alta</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Pclass y Fare: -0.55</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tenure y TotalCharges: 0.83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100" b="1" dirty="0">
                          <a:solidFill>
                            <a:srgbClr val="1B1F24"/>
                          </a:solidFill>
                        </a:rPr>
                        <a:t>Duplicados / constantes</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Ninguno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Ninguno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4" name="hallazgo_totalcharges"/>
          <p:cNvSpPr/>
          <p:nvPr/>
        </p:nvSpPr>
        <p:spPr>
          <a:xfrm>
            <a:off x="6080760" y="1051560"/>
            <a:ext cx="2606040" cy="3520440"/>
          </a:xfrm>
          <a:prstGeom prst="roundRect">
            <a:avLst>
              <a:gd name="adj" fmla="val 2807"/>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6263640" y="118872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Caso TotalCharges</a:t>
            </a:r>
            <a:endParaRPr lang="en-US" sz="1600" dirty="0"/>
          </a:p>
        </p:txBody>
      </p:sp>
      <p:sp>
        <p:nvSpPr>
          <p:cNvPr id="3" name="Text 3"/>
          <p:cNvSpPr txBox="1"/>
          <p:nvPr/>
        </p:nvSpPr>
        <p:spPr>
          <a:xfrm>
            <a:off x="6263640" y="1600200"/>
            <a:ext cx="2286000" cy="640080"/>
          </a:xfrm>
          <a:prstGeom prst="rect">
            <a:avLst/>
          </a:prstGeom>
          <a:noFill/>
          <a:ln/>
        </p:spPr>
        <p:txBody>
          <a:bodyPr wrap="square" lIns="0" tIns="0" rIns="0" bIns="0" rtlCol="0" anchor="t"/>
          <a:lstStyle/>
          <a:p>
            <a:pPr marL="0" indent="0">
              <a:buNone/>
            </a:pPr>
            <a:r>
              <a:rPr lang="en-US" sz="4000" b="1" dirty="0">
                <a:solidFill>
                  <a:schemeClr val="accent3"/>
                </a:solidFill>
              </a:rPr>
              <a:t>11</a:t>
            </a:r>
            <a:endParaRPr lang="en-US" sz="4000" dirty="0"/>
          </a:p>
        </p:txBody>
      </p:sp>
      <p:sp>
        <p:nvSpPr>
          <p:cNvPr id="7" name="Text 4"/>
          <p:cNvSpPr txBox="1"/>
          <p:nvPr/>
        </p:nvSpPr>
        <p:spPr>
          <a:xfrm>
            <a:off x="6263640" y="2286000"/>
            <a:ext cx="2286000" cy="2194560"/>
          </a:xfrm>
          <a:prstGeom prst="rect">
            <a:avLst/>
          </a:prstGeom>
          <a:noFill/>
          <a:ln/>
        </p:spPr>
        <p:txBody>
          <a:bodyPr wrap="square" lIns="0" tIns="0" rIns="0" bIns="0" rtlCol="0" anchor="t"/>
          <a:lstStyle/>
          <a:p>
            <a:pPr marL="0" indent="0">
              <a:buNone/>
            </a:pPr>
            <a:r>
              <a:rPr lang="en-US" sz="1200" dirty="0">
                <a:solidFill>
                  <a:schemeClr val="tx1"/>
                </a:solidFill>
              </a:rPr>
              <a:t>valores en blanco que no aparecían como nulos. Los 11 son clientes con tenure = 0: todavía no se les había facturado.</a:t>
            </a:r>
            <a:endParaRPr lang="en-US" sz="1200" dirty="0"/>
          </a:p>
          <a:p>
            <a:pPr marL="0" indent="0">
              <a:buNone/>
            </a:pPr>
            <a:endParaRPr lang="en-US" sz="1200" dirty="0"/>
          </a:p>
          <a:p>
            <a:pPr marL="0" indent="0">
              <a:buNone/>
            </a:pPr>
            <a:r>
              <a:rPr lang="en-US" sz="1200" dirty="0">
                <a:solidFill>
                  <a:schemeClr val="tx1"/>
                </a:solidFill>
              </a:rPr>
              <a:t>Se convirtió la columna a número, se volvió a perfilar y se imputó con la mediana dentro del pipeline.</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Titanic: sexo y clase explican la supervivencia</a:t>
            </a:r>
            <a:endParaRPr lang="en-US" sz="2800" dirty="0"/>
          </a:p>
        </p:txBody>
      </p:sp>
      <p:graphicFrame>
        <p:nvGraphicFramePr>
          <p:cNvPr id="3" name="grafica_titanic"/>
          <p:cNvGraphicFramePr/>
          <p:nvPr/>
        </p:nvGraphicFramePr>
        <p:xfrm>
          <a:off x="457200" y="105156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itanic_dato_0"/>
          <p:cNvSpPr/>
          <p:nvPr/>
        </p:nvSpPr>
        <p:spPr>
          <a:xfrm>
            <a:off x="5806440" y="109728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5989320" y="117043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28 años</a:t>
            </a:r>
            <a:endParaRPr lang="en-US" sz="2200" dirty="0"/>
          </a:p>
        </p:txBody>
      </p:sp>
      <p:sp>
        <p:nvSpPr>
          <p:cNvPr id="6" name="Text 3"/>
          <p:cNvSpPr txBox="1"/>
          <p:nvPr/>
        </p:nvSpPr>
        <p:spPr>
          <a:xfrm>
            <a:off x="5989320" y="1600200"/>
            <a:ext cx="2560320" cy="457200"/>
          </a:xfrm>
          <a:prstGeom prst="rect">
            <a:avLst/>
          </a:prstGeom>
          <a:noFill/>
          <a:ln/>
        </p:spPr>
        <p:txBody>
          <a:bodyPr wrap="square" lIns="0" tIns="0" rIns="0" bIns="0" rtlCol="0" anchor="t"/>
          <a:lstStyle/>
          <a:p>
            <a:pPr marL="0" indent="0">
              <a:buNone/>
            </a:pPr>
            <a:r>
              <a:rPr lang="en-US" sz="1150" dirty="0">
                <a:solidFill>
                  <a:schemeClr val="tx1"/>
                </a:solidFill>
              </a:rPr>
              <a:t>mediana de edad en ambos grupos: la edad sola casi no separa</a:t>
            </a:r>
            <a:endParaRPr lang="en-US" sz="1150" dirty="0"/>
          </a:p>
        </p:txBody>
      </p:sp>
      <p:sp>
        <p:nvSpPr>
          <p:cNvPr id="7" name="titanic_dato_1"/>
          <p:cNvSpPr/>
          <p:nvPr/>
        </p:nvSpPr>
        <p:spPr>
          <a:xfrm>
            <a:off x="5806440" y="228600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8" name="Text 5"/>
          <p:cNvSpPr txBox="1"/>
          <p:nvPr/>
        </p:nvSpPr>
        <p:spPr>
          <a:xfrm>
            <a:off x="5989320" y="235915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26 vs. 10.5</a:t>
            </a:r>
            <a:endParaRPr lang="en-US" sz="2200" dirty="0"/>
          </a:p>
        </p:txBody>
      </p:sp>
      <p:sp>
        <p:nvSpPr>
          <p:cNvPr id="9" name="Text 6"/>
          <p:cNvSpPr txBox="1"/>
          <p:nvPr/>
        </p:nvSpPr>
        <p:spPr>
          <a:xfrm>
            <a:off x="5989320" y="2788920"/>
            <a:ext cx="2560320" cy="457200"/>
          </a:xfrm>
          <a:prstGeom prst="rect">
            <a:avLst/>
          </a:prstGeom>
          <a:noFill/>
          <a:ln/>
        </p:spPr>
        <p:txBody>
          <a:bodyPr wrap="square" lIns="0" tIns="0" rIns="0" bIns="0" rtlCol="0" anchor="t"/>
          <a:lstStyle/>
          <a:p>
            <a:pPr marL="0" indent="0">
              <a:buNone/>
            </a:pPr>
            <a:r>
              <a:rPr lang="en-US" sz="1150" dirty="0">
                <a:solidFill>
                  <a:schemeClr val="tx1"/>
                </a:solidFill>
              </a:rPr>
              <a:t>tarifa mediana de quienes sobrevivieron vs. quienes no</a:t>
            </a:r>
            <a:endParaRPr lang="en-US" sz="1150" dirty="0"/>
          </a:p>
        </p:txBody>
      </p:sp>
      <p:sp>
        <p:nvSpPr>
          <p:cNvPr id="10" name="titanic_dato_2"/>
          <p:cNvSpPr/>
          <p:nvPr/>
        </p:nvSpPr>
        <p:spPr>
          <a:xfrm>
            <a:off x="5806440" y="347472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11" name="Text 8"/>
          <p:cNvSpPr txBox="1"/>
          <p:nvPr/>
        </p:nvSpPr>
        <p:spPr>
          <a:xfrm>
            <a:off x="5989320" y="354787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29 % vs. 41 %</a:t>
            </a:r>
            <a:endParaRPr lang="en-US" sz="2200" dirty="0"/>
          </a:p>
        </p:txBody>
      </p:sp>
      <p:sp>
        <p:nvSpPr>
          <p:cNvPr id="12" name="Text 9"/>
          <p:cNvSpPr txBox="1"/>
          <p:nvPr/>
        </p:nvSpPr>
        <p:spPr>
          <a:xfrm>
            <a:off x="5989320" y="3977640"/>
            <a:ext cx="2560320" cy="457200"/>
          </a:xfrm>
          <a:prstGeom prst="rect">
            <a:avLst/>
          </a:prstGeom>
          <a:noFill/>
          <a:ln/>
        </p:spPr>
        <p:txBody>
          <a:bodyPr wrap="square" lIns="0" tIns="0" rIns="0" bIns="0" rtlCol="0" anchor="t"/>
          <a:lstStyle/>
          <a:p>
            <a:pPr marL="0" indent="0">
              <a:buNone/>
            </a:pPr>
            <a:r>
              <a:rPr lang="en-US" sz="1150" dirty="0">
                <a:solidFill>
                  <a:schemeClr val="tx1"/>
                </a:solidFill>
              </a:rPr>
              <a:t>supervivencia sin edad registrada vs. con edad</a:t>
            </a:r>
            <a:endParaRPr lang="en-US" sz="115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Telco: el contrato mensual concentra el abandono</a:t>
            </a:r>
            <a:endParaRPr lang="en-US" sz="2800" dirty="0"/>
          </a:p>
        </p:txBody>
      </p:sp>
      <p:graphicFrame>
        <p:nvGraphicFramePr>
          <p:cNvPr id="3" name="grafica_contrato"/>
          <p:cNvGraphicFramePr/>
          <p:nvPr/>
        </p:nvGraphicFramePr>
        <p:xfrm>
          <a:off x="457200" y="1051560"/>
          <a:ext cx="512064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4" name="telco_dato_0"/>
          <p:cNvSpPr/>
          <p:nvPr/>
        </p:nvSpPr>
        <p:spPr>
          <a:xfrm>
            <a:off x="5806440" y="109728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5989320" y="117043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41.9 %</a:t>
            </a:r>
            <a:endParaRPr lang="en-US" sz="2200" dirty="0"/>
          </a:p>
        </p:txBody>
      </p:sp>
      <p:sp>
        <p:nvSpPr>
          <p:cNvPr id="6" name="Text 3"/>
          <p:cNvSpPr txBox="1"/>
          <p:nvPr/>
        </p:nvSpPr>
        <p:spPr>
          <a:xfrm>
            <a:off x="5989320" y="1600200"/>
            <a:ext cx="2560320" cy="457200"/>
          </a:xfrm>
          <a:prstGeom prst="rect">
            <a:avLst/>
          </a:prstGeom>
          <a:noFill/>
          <a:ln/>
        </p:spPr>
        <p:txBody>
          <a:bodyPr wrap="square" lIns="0" tIns="0" rIns="0" bIns="0" rtlCol="0" anchor="t"/>
          <a:lstStyle/>
          <a:p>
            <a:pPr marL="0" indent="0">
              <a:buNone/>
            </a:pPr>
            <a:r>
              <a:rPr lang="en-US" sz="1150" dirty="0">
                <a:solidFill>
                  <a:schemeClr val="tx1"/>
                </a:solidFill>
              </a:rPr>
              <a:t>abandono con fibra óptica (DSL: 19.0 %)</a:t>
            </a:r>
            <a:endParaRPr lang="en-US" sz="1150" dirty="0"/>
          </a:p>
        </p:txBody>
      </p:sp>
      <p:sp>
        <p:nvSpPr>
          <p:cNvPr id="7" name="telco_dato_1"/>
          <p:cNvSpPr/>
          <p:nvPr/>
        </p:nvSpPr>
        <p:spPr>
          <a:xfrm>
            <a:off x="5806440" y="228600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8" name="Text 5"/>
          <p:cNvSpPr txBox="1"/>
          <p:nvPr/>
        </p:nvSpPr>
        <p:spPr>
          <a:xfrm>
            <a:off x="5989320" y="235915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10 vs. 38</a:t>
            </a:r>
            <a:endParaRPr lang="en-US" sz="2200" dirty="0"/>
          </a:p>
        </p:txBody>
      </p:sp>
      <p:sp>
        <p:nvSpPr>
          <p:cNvPr id="9" name="Text 6"/>
          <p:cNvSpPr txBox="1"/>
          <p:nvPr/>
        </p:nvSpPr>
        <p:spPr>
          <a:xfrm>
            <a:off x="5989320" y="2788920"/>
            <a:ext cx="2560320" cy="457200"/>
          </a:xfrm>
          <a:prstGeom prst="rect">
            <a:avLst/>
          </a:prstGeom>
          <a:noFill/>
          <a:ln/>
        </p:spPr>
        <p:txBody>
          <a:bodyPr wrap="square" lIns="0" tIns="0" rIns="0" bIns="0" rtlCol="0" anchor="t"/>
          <a:lstStyle/>
          <a:p>
            <a:pPr marL="0" indent="0">
              <a:buNone/>
            </a:pPr>
            <a:r>
              <a:rPr lang="en-US" sz="1150" dirty="0">
                <a:solidFill>
                  <a:schemeClr val="tx1"/>
                </a:solidFill>
              </a:rPr>
              <a:t>meses de antigüedad mediana: quien se va vs. quien se queda</a:t>
            </a:r>
            <a:endParaRPr lang="en-US" sz="1150" dirty="0"/>
          </a:p>
        </p:txBody>
      </p:sp>
      <p:sp>
        <p:nvSpPr>
          <p:cNvPr id="10" name="telco_dato_2"/>
          <p:cNvSpPr/>
          <p:nvPr/>
        </p:nvSpPr>
        <p:spPr>
          <a:xfrm>
            <a:off x="5806440" y="3474720"/>
            <a:ext cx="2880360" cy="1024128"/>
          </a:xfrm>
          <a:prstGeom prst="roundRect">
            <a:avLst>
              <a:gd name="adj" fmla="val 7143"/>
            </a:avLst>
          </a:prstGeom>
          <a:solidFill>
            <a:schemeClr val="bg2"/>
          </a:solidFill>
          <a:ln w="12700">
            <a:solidFill>
              <a:schemeClr val="bg2"/>
            </a:solidFill>
            <a:prstDash val="solid"/>
          </a:ln>
        </p:spPr>
        <p:txBody>
          <a:bodyPr/>
          <a:lstStyle/>
          <a:p>
            <a:endParaRPr lang="es-MX"/>
          </a:p>
        </p:txBody>
      </p:sp>
      <p:sp>
        <p:nvSpPr>
          <p:cNvPr id="11" name="Text 8"/>
          <p:cNvSpPr txBox="1"/>
          <p:nvPr/>
        </p:nvSpPr>
        <p:spPr>
          <a:xfrm>
            <a:off x="5989320" y="3547872"/>
            <a:ext cx="2560320" cy="411480"/>
          </a:xfrm>
          <a:prstGeom prst="rect">
            <a:avLst/>
          </a:prstGeom>
          <a:noFill/>
          <a:ln/>
        </p:spPr>
        <p:txBody>
          <a:bodyPr wrap="square" lIns="0" tIns="0" rIns="0" bIns="0" rtlCol="0" anchor="t"/>
          <a:lstStyle/>
          <a:p>
            <a:pPr marL="0" indent="0">
              <a:buNone/>
            </a:pPr>
            <a:r>
              <a:rPr lang="en-US" sz="2200" b="1" dirty="0">
                <a:solidFill>
                  <a:schemeClr val="tx2"/>
                </a:solidFill>
                <a:latin typeface="Cambria" pitchFamily="34" charset="0"/>
                <a:ea typeface="Cambria" pitchFamily="34" charset="-122"/>
                <a:cs typeface="Cambria" pitchFamily="34" charset="-120"/>
              </a:rPr>
              <a:t>73.5 %</a:t>
            </a:r>
            <a:endParaRPr lang="en-US" sz="2200" dirty="0"/>
          </a:p>
        </p:txBody>
      </p:sp>
      <p:sp>
        <p:nvSpPr>
          <p:cNvPr id="12" name="Text 9"/>
          <p:cNvSpPr txBox="1"/>
          <p:nvPr/>
        </p:nvSpPr>
        <p:spPr>
          <a:xfrm>
            <a:off x="5989320" y="3977640"/>
            <a:ext cx="2560320" cy="457200"/>
          </a:xfrm>
          <a:prstGeom prst="rect">
            <a:avLst/>
          </a:prstGeom>
          <a:noFill/>
          <a:ln/>
        </p:spPr>
        <p:txBody>
          <a:bodyPr wrap="square" lIns="0" tIns="0" rIns="0" bIns="0" rtlCol="0" anchor="t"/>
          <a:lstStyle/>
          <a:p>
            <a:pPr marL="0" indent="0">
              <a:buNone/>
            </a:pPr>
            <a:r>
              <a:rPr lang="en-US" sz="1150" dirty="0">
                <a:solidFill>
                  <a:schemeClr val="tx1"/>
                </a:solidFill>
              </a:rPr>
              <a:t>accuracy de un modelo que siempre dice "no abandona"</a:t>
            </a:r>
            <a:endParaRPr lang="en-US" sz="115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Imputación: elegimos mediana + "Desconocido"</a:t>
            </a:r>
            <a:endParaRPr lang="en-US" sz="2800" dirty="0"/>
          </a:p>
        </p:txBody>
      </p:sp>
      <p:pic>
        <p:nvPicPr>
          <p:cNvPr id="3" name="hist_imputacion" descr="Histogramas de Age: original, imputada con media e imputada con mediana"/>
          <p:cNvPicPr>
            <a:picLocks noChangeAspect="1"/>
          </p:cNvPicPr>
          <p:nvPr/>
        </p:nvPicPr>
        <p:blipFill>
          <a:blip r:embed="rId3"/>
          <a:stretch>
            <a:fillRect/>
          </a:stretch>
        </p:blipFill>
        <p:spPr>
          <a:xfrm>
            <a:off x="457200" y="1005840"/>
            <a:ext cx="8229600" cy="2129492"/>
          </a:xfrm>
          <a:prstGeom prst="rect">
            <a:avLst/>
          </a:prstGeom>
        </p:spPr>
      </p:pic>
      <p:graphicFrame>
        <p:nvGraphicFramePr>
          <p:cNvPr id="9" name="tabla_imputacion"/>
          <p:cNvGraphicFramePr>
            <a:graphicFrameLocks noGrp="1"/>
          </p:cNvGraphicFramePr>
          <p:nvPr>
            <p:extLst>
              <p:ext uri="{D42A27DB-BD31-4B8C-83A1-F6EECF244321}">
                <p14:modId xmlns:p14="http://schemas.microsoft.com/office/powerpoint/2010/main" val="1579011935"/>
              </p:ext>
            </p:extLst>
          </p:nvPr>
        </p:nvGraphicFramePr>
        <p:xfrm>
          <a:off x="457200" y="3200400"/>
          <a:ext cx="4846320" cy="1371600"/>
        </p:xfrm>
        <a:graphic>
          <a:graphicData uri="http://schemas.openxmlformats.org/drawingml/2006/table">
            <a:tbl>
              <a:tblPr/>
              <a:tblGrid>
                <a:gridCol w="21031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265176">
                <a:tc>
                  <a:txBody>
                    <a:bodyPr/>
                    <a:lstStyle/>
                    <a:p>
                      <a:pPr marL="0" indent="0">
                        <a:buNone/>
                      </a:pPr>
                      <a:r>
                        <a:rPr lang="en-US" sz="1200" b="1" dirty="0">
                          <a:solidFill>
                            <a:srgbClr val="FFFFFF"/>
                          </a:solidFill>
                        </a:rPr>
                        <a:t>Estrategia (Titanic)</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Desv. Age</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F1</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ROC-AUC</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265176">
                <a:tc>
                  <a:txBody>
                    <a:bodyPr/>
                    <a:lstStyle/>
                    <a:p>
                      <a:pPr marL="0" indent="0">
                        <a:buNone/>
                      </a:pPr>
                      <a:r>
                        <a:rPr lang="en-US" sz="1200" dirty="0">
                          <a:solidFill>
                            <a:srgbClr val="1B1F24"/>
                          </a:solidFill>
                        </a:rPr>
                        <a:t>Original (sin nulos)</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14.49</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1"/>
                  </a:ext>
                </a:extLst>
              </a:tr>
              <a:tr h="265176">
                <a:tc>
                  <a:txBody>
                    <a:bodyPr/>
                    <a:lstStyle/>
                    <a:p>
                      <a:pPr marL="0" indent="0">
                        <a:buNone/>
                      </a:pPr>
                      <a:r>
                        <a:rPr lang="en-US" sz="1200" dirty="0">
                          <a:solidFill>
                            <a:srgbClr val="1B1F24"/>
                          </a:solidFill>
                        </a:rPr>
                        <a:t>A: media + moda</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13.02</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0.729</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0.853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2"/>
                  </a:ext>
                </a:extLst>
              </a:tr>
              <a:tr h="265176">
                <a:tc>
                  <a:txBody>
                    <a:bodyPr/>
                    <a:lstStyle/>
                    <a:p>
                      <a:pPr marL="0" indent="0">
                        <a:buNone/>
                      </a:pPr>
                      <a:r>
                        <a:rPr lang="en-US" sz="1200" b="1" dirty="0">
                          <a:solidFill>
                            <a:srgbClr val="1B1F24"/>
                          </a:solidFill>
                        </a:rPr>
                        <a:t>B: mediana + Desconocido</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13.03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0.730</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0.853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3"/>
                  </a:ext>
                </a:extLst>
              </a:tr>
              <a:tr h="265176">
                <a:tc>
                  <a:txBody>
                    <a:bodyPr/>
                    <a:lstStyle/>
                    <a:p>
                      <a:pPr marL="0" indent="0">
                        <a:buNone/>
                      </a:pPr>
                      <a:r>
                        <a:rPr lang="en-US" sz="1200" dirty="0">
                          <a:solidFill>
                            <a:srgbClr val="1B1F24"/>
                          </a:solidFill>
                        </a:rPr>
                        <a:t>B + indicador de ausente</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13.03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0.723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0.853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1"/>
          <p:cNvSpPr txBox="1"/>
          <p:nvPr/>
        </p:nvSpPr>
        <p:spPr>
          <a:xfrm>
            <a:off x="5577840" y="3200400"/>
            <a:ext cx="3108960" cy="141732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137 edades y 2 puertos faltantes en entrenamiento.</a:t>
            </a:r>
            <a:endParaRPr lang="en-US" sz="1300" dirty="0"/>
          </a:p>
          <a:p>
            <a:pPr marL="342900" indent="-342900">
              <a:spcAft>
                <a:spcPts val="400"/>
              </a:spcAft>
              <a:buSzPct val="100000"/>
              <a:buChar char="•"/>
            </a:pPr>
            <a:r>
              <a:rPr lang="en-US" sz="1300" dirty="0">
                <a:solidFill>
                  <a:schemeClr val="tx1"/>
                </a:solidFill>
              </a:rPr>
              <a:t>Las dos estrategias crean un pico artificial y bajan ~10 % la desviación.</a:t>
            </a:r>
            <a:endParaRPr lang="en-US" sz="1300" dirty="0"/>
          </a:p>
          <a:p>
            <a:pPr marL="342900" indent="-342900">
              <a:spcAft>
                <a:spcPts val="400"/>
              </a:spcAft>
              <a:buSzPct val="100000"/>
              <a:buChar char="•"/>
            </a:pPr>
            <a:r>
              <a:rPr lang="en-US" sz="1300" dirty="0">
                <a:solidFill>
                  <a:schemeClr val="tx1"/>
                </a:solidFill>
              </a:rPr>
              <a:t>Rinden igual; B es robusta y no inventa un puerto.</a:t>
            </a:r>
            <a:endParaRPr lang="en-US" sz="13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Winsorización de Fare: percentiles 1 y 99</a:t>
            </a:r>
            <a:endParaRPr lang="en-US" sz="2800" dirty="0"/>
          </a:p>
        </p:txBody>
      </p:sp>
      <p:pic>
        <p:nvPicPr>
          <p:cNvPr id="3" name="box_winsor" descr="Boxplots de Fare sin winsorizar, con IQR y con percentiles 1-99"/>
          <p:cNvPicPr>
            <a:picLocks noChangeAspect="1"/>
          </p:cNvPicPr>
          <p:nvPr/>
        </p:nvPicPr>
        <p:blipFill>
          <a:blip r:embed="rId3"/>
          <a:stretch>
            <a:fillRect/>
          </a:stretch>
        </p:blipFill>
        <p:spPr>
          <a:xfrm>
            <a:off x="457200" y="1005840"/>
            <a:ext cx="8229600" cy="1896579"/>
          </a:xfrm>
          <a:prstGeom prst="rect">
            <a:avLst/>
          </a:prstGeom>
        </p:spPr>
      </p:pic>
      <p:graphicFrame>
        <p:nvGraphicFramePr>
          <p:cNvPr id="10" name="tabla_winsor"/>
          <p:cNvGraphicFramePr>
            <a:graphicFrameLocks noGrp="1"/>
          </p:cNvGraphicFramePr>
          <p:nvPr>
            <p:extLst>
              <p:ext uri="{D42A27DB-BD31-4B8C-83A1-F6EECF244321}">
                <p14:modId xmlns:p14="http://schemas.microsoft.com/office/powerpoint/2010/main" val="1579011935"/>
              </p:ext>
            </p:extLst>
          </p:nvPr>
        </p:nvGraphicFramePr>
        <p:xfrm>
          <a:off x="457200" y="3063240"/>
          <a:ext cx="4846320" cy="1097280"/>
        </p:xfrm>
        <a:graphic>
          <a:graphicData uri="http://schemas.openxmlformats.org/drawingml/2006/table">
            <a:tbl>
              <a:tblPr/>
              <a:tblGrid>
                <a:gridCol w="155448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274320">
                <a:tc>
                  <a:txBody>
                    <a:bodyPr/>
                    <a:lstStyle/>
                    <a:p>
                      <a:pPr marL="0" indent="0">
                        <a:buNone/>
                      </a:pPr>
                      <a:r>
                        <a:rPr lang="en-US" sz="1200" b="1" dirty="0">
                          <a:solidFill>
                            <a:srgbClr val="FFFFFF"/>
                          </a:solidFill>
                        </a:rPr>
                        <a:t>Versión</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Recorta</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Máx.</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Desv.</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200" b="1" dirty="0">
                          <a:solidFill>
                            <a:srgbClr val="FFFFFF"/>
                          </a:solidFill>
                        </a:rPr>
                        <a:t>F1</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1B1F24"/>
                          </a:solidFill>
                        </a:rPr>
                        <a:t>Sin winsorizar</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512.33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48.06</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0.730</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00" dirty="0">
                          <a:solidFill>
                            <a:srgbClr val="1B1F24"/>
                          </a:solidFill>
                        </a:rPr>
                        <a:t>IQR (1.5)</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12.8 %</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65.66</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20.51</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dirty="0">
                          <a:solidFill>
                            <a:srgbClr val="1B1F24"/>
                          </a:solidFill>
                        </a:rPr>
                        <a:t>0.713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200" b="1" dirty="0">
                          <a:solidFill>
                            <a:srgbClr val="1B1F24"/>
                          </a:solidFill>
                        </a:rPr>
                        <a:t>Percentiles 1-99</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1.0 %</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227.53</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41.00</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200" b="1" dirty="0">
                          <a:solidFill>
                            <a:srgbClr val="1B1F24"/>
                          </a:solidFill>
                        </a:rPr>
                        <a:t>0.730</a:t>
                      </a:r>
                      <a:endParaRPr lang="en-US" sz="12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1"/>
          <p:cNvSpPr txBox="1"/>
          <p:nvPr/>
        </p:nvSpPr>
        <p:spPr>
          <a:xfrm>
            <a:off x="5577840" y="3017520"/>
            <a:ext cx="3108960" cy="16002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Límites calculados solo con entrenamiento.</a:t>
            </a:r>
            <a:endParaRPr lang="en-US" sz="1300" dirty="0"/>
          </a:p>
          <a:p>
            <a:pPr marL="342900" indent="-342900">
              <a:spcAft>
                <a:spcPts val="400"/>
              </a:spcAft>
              <a:buSzPct val="100000"/>
              <a:buChar char="•"/>
            </a:pPr>
            <a:r>
              <a:rPr lang="en-US" sz="1300" dirty="0">
                <a:solidFill>
                  <a:schemeClr val="tx1"/>
                </a:solidFill>
              </a:rPr>
              <a:t>IQR recorta tarifas reales de 1.ª clase y baja el F1.</a:t>
            </a:r>
            <a:endParaRPr lang="en-US" sz="1300" dirty="0"/>
          </a:p>
          <a:p>
            <a:pPr marL="342900" indent="-342900">
              <a:spcAft>
                <a:spcPts val="400"/>
              </a:spcAft>
              <a:buSzPct val="100000"/>
              <a:buChar char="•"/>
            </a:pPr>
            <a:r>
              <a:rPr lang="en-US" sz="1300" dirty="0">
                <a:solidFill>
                  <a:schemeClr val="tx1"/>
                </a:solidFill>
              </a:rPr>
              <a:t>Ningún criterio mejora el modelo; 1-99 reduce extremos sin perder información.</a:t>
            </a:r>
            <a:endParaRPr lang="en-US" sz="13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Balanceo: el recall sube de 0.54 a ~0.80 en Telco</a:t>
            </a:r>
            <a:endParaRPr lang="en-US" sz="2800" dirty="0"/>
          </a:p>
        </p:txBody>
      </p:sp>
      <p:graphicFrame>
        <p:nvGraphicFramePr>
          <p:cNvPr id="3" name="grafica_balanceo"/>
          <p:cNvGraphicFramePr/>
          <p:nvPr/>
        </p:nvGraphicFramePr>
        <p:xfrm>
          <a:off x="457200" y="1005840"/>
          <a:ext cx="5394960" cy="3611880"/>
        </p:xfrm>
        <a:graphic>
          <a:graphicData uri="http://schemas.openxmlformats.org/drawingml/2006/chart">
            <c:chart xmlns:c="http://schemas.openxmlformats.org/drawingml/2006/chart" xmlns:r="http://schemas.openxmlformats.org/officeDocument/2006/relationships" r:id="rId3"/>
          </a:graphicData>
        </a:graphic>
      </p:graphicFrame>
      <p:sp>
        <p:nvSpPr>
          <p:cNvPr id="4" name="lectura_balanceo"/>
          <p:cNvSpPr/>
          <p:nvPr/>
        </p:nvSpPr>
        <p:spPr>
          <a:xfrm>
            <a:off x="6080760" y="1051560"/>
            <a:ext cx="2606040" cy="3520440"/>
          </a:xfrm>
          <a:prstGeom prst="roundRect">
            <a:avLst>
              <a:gd name="adj" fmla="val 2807"/>
            </a:avLst>
          </a:prstGeom>
          <a:solidFill>
            <a:schemeClr val="bg2"/>
          </a:solidFill>
          <a:ln w="12700">
            <a:solidFill>
              <a:schemeClr val="bg2"/>
            </a:solidFill>
            <a:prstDash val="solid"/>
          </a:ln>
        </p:spPr>
        <p:txBody>
          <a:bodyPr/>
          <a:lstStyle/>
          <a:p>
            <a:endParaRPr lang="es-MX"/>
          </a:p>
        </p:txBody>
      </p:sp>
      <p:sp>
        <p:nvSpPr>
          <p:cNvPr id="5" name="Text 2"/>
          <p:cNvSpPr txBox="1"/>
          <p:nvPr/>
        </p:nvSpPr>
        <p:spPr>
          <a:xfrm>
            <a:off x="6263640" y="1188720"/>
            <a:ext cx="2286000" cy="36576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Lectura</a:t>
            </a:r>
            <a:endParaRPr lang="en-US" sz="1600" dirty="0"/>
          </a:p>
        </p:txBody>
      </p:sp>
      <p:sp>
        <p:nvSpPr>
          <p:cNvPr id="6" name="Text 3"/>
          <p:cNvSpPr txBox="1"/>
          <p:nvPr/>
        </p:nvSpPr>
        <p:spPr>
          <a:xfrm>
            <a:off x="6263640" y="1645920"/>
            <a:ext cx="2286000" cy="28346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1"/>
                </a:solidFill>
              </a:rPr>
              <a:t>Las 4 técnicas suben el recall y bajan la precision.</a:t>
            </a:r>
            <a:endParaRPr lang="en-US" sz="1200" dirty="0"/>
          </a:p>
          <a:p>
            <a:pPr marL="342900" indent="-342900">
              <a:spcAft>
                <a:spcPts val="500"/>
              </a:spcAft>
              <a:buSzPct val="100000"/>
              <a:buChar char="•"/>
            </a:pPr>
            <a:r>
              <a:rPr lang="en-US" sz="1200" dirty="0">
                <a:solidFill>
                  <a:schemeClr val="tx1"/>
                </a:solidFill>
              </a:rPr>
              <a:t>F1: de 0.59 a ~0.63. Entre técnicas la diferencia es menor a 0.01.</a:t>
            </a:r>
            <a:endParaRPr lang="en-US" sz="1200" dirty="0"/>
          </a:p>
          <a:p>
            <a:pPr marL="342900" indent="-342900">
              <a:spcAft>
                <a:spcPts val="500"/>
              </a:spcAft>
              <a:buSzPct val="100000"/>
              <a:buChar char="•"/>
            </a:pPr>
            <a:r>
              <a:rPr lang="en-US" sz="1200" dirty="0">
                <a:solidFill>
                  <a:schemeClr val="tx1"/>
                </a:solidFill>
              </a:rPr>
              <a:t>ROC-AUC igual (0.846): se mueve el umbral, no mejora el orden.</a:t>
            </a:r>
            <a:endParaRPr lang="en-US" sz="1200" dirty="0"/>
          </a:p>
          <a:p>
            <a:pPr marL="342900" indent="-342900">
              <a:spcAft>
                <a:spcPts val="500"/>
              </a:spcAft>
              <a:buSzPct val="100000"/>
              <a:buChar char="•"/>
            </a:pPr>
            <a:r>
              <a:rPr lang="en-US" sz="1200" dirty="0">
                <a:solidFill>
                  <a:schemeClr val="tx1"/>
                </a:solidFill>
              </a:rPr>
              <a:t>Titanic (IR 1.61): el F1 no cambia, se deja sin balancear.</a:t>
            </a:r>
            <a:endParaRPr lang="en-US" sz="12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Evaluación final en el conjunto de prueba</a:t>
            </a:r>
            <a:endParaRPr lang="en-US" sz="2800" dirty="0"/>
          </a:p>
        </p:txBody>
      </p:sp>
      <p:sp>
        <p:nvSpPr>
          <p:cNvPr id="3" name="Text 1"/>
          <p:cNvSpPr txBox="1"/>
          <p:nvPr/>
        </p:nvSpPr>
        <p:spPr>
          <a:xfrm>
            <a:off x="365760" y="1051560"/>
            <a:ext cx="2743200" cy="320040"/>
          </a:xfrm>
          <a:prstGeom prst="rect">
            <a:avLst/>
          </a:prstGeom>
          <a:noFill/>
          <a:ln/>
        </p:spPr>
        <p:txBody>
          <a:bodyPr wrap="square" lIns="0" tIns="0" rIns="0" bIns="0" rtlCol="0" anchor="t"/>
          <a:lstStyle/>
          <a:p>
            <a:pPr marL="0" indent="0" algn="ctr">
              <a:buNone/>
            </a:pPr>
            <a:r>
              <a:rPr lang="en-US" sz="1400" b="1" dirty="0">
                <a:solidFill>
                  <a:schemeClr val="tx2"/>
                </a:solidFill>
              </a:rPr>
              <a:t>Sin balanceo</a:t>
            </a:r>
            <a:endParaRPr lang="en-US" sz="1400" dirty="0"/>
          </a:p>
        </p:txBody>
      </p:sp>
      <p:sp>
        <p:nvSpPr>
          <p:cNvPr id="4" name="Text 2"/>
          <p:cNvSpPr txBox="1"/>
          <p:nvPr/>
        </p:nvSpPr>
        <p:spPr>
          <a:xfrm>
            <a:off x="1005840" y="1371600"/>
            <a:ext cx="2103120" cy="228600"/>
          </a:xfrm>
          <a:prstGeom prst="rect">
            <a:avLst/>
          </a:prstGeom>
          <a:noFill/>
          <a:ln/>
        </p:spPr>
        <p:txBody>
          <a:bodyPr wrap="square" lIns="0" tIns="0" rIns="0" bIns="0" rtlCol="0" anchor="t"/>
          <a:lstStyle/>
          <a:p>
            <a:pPr marL="0" indent="0" algn="ctr">
              <a:buNone/>
            </a:pPr>
            <a:r>
              <a:rPr lang="en-US" sz="1000" dirty="0">
                <a:solidFill>
                  <a:schemeClr val="accent6"/>
                </a:solidFill>
              </a:rPr>
              <a:t>Predicción</a:t>
            </a:r>
            <a:endParaRPr lang="en-US" sz="1000" dirty="0"/>
          </a:p>
        </p:txBody>
      </p:sp>
      <p:sp>
        <p:nvSpPr>
          <p:cNvPr id="5" name="Text 3"/>
          <p:cNvSpPr txBox="1"/>
          <p:nvPr/>
        </p:nvSpPr>
        <p:spPr>
          <a:xfrm>
            <a:off x="1005840" y="1600200"/>
            <a:ext cx="1051560" cy="228600"/>
          </a:xfrm>
          <a:prstGeom prst="rect">
            <a:avLst/>
          </a:prstGeom>
          <a:noFill/>
          <a:ln/>
        </p:spPr>
        <p:txBody>
          <a:bodyPr wrap="square" lIns="0" tIns="0" rIns="0" bIns="0" rtlCol="0" anchor="t"/>
          <a:lstStyle/>
          <a:p>
            <a:pPr marL="0" indent="0" algn="ctr">
              <a:buNone/>
            </a:pPr>
            <a:r>
              <a:rPr lang="en-US" sz="1100" dirty="0">
                <a:solidFill>
                  <a:schemeClr val="tx1"/>
                </a:solidFill>
              </a:rPr>
              <a:t>No</a:t>
            </a:r>
            <a:endParaRPr lang="en-US" sz="1100" dirty="0"/>
          </a:p>
        </p:txBody>
      </p:sp>
      <p:sp>
        <p:nvSpPr>
          <p:cNvPr id="6" name="Text 4"/>
          <p:cNvSpPr txBox="1"/>
          <p:nvPr/>
        </p:nvSpPr>
        <p:spPr>
          <a:xfrm>
            <a:off x="2057400" y="1600200"/>
            <a:ext cx="1051560" cy="228600"/>
          </a:xfrm>
          <a:prstGeom prst="rect">
            <a:avLst/>
          </a:prstGeom>
          <a:noFill/>
          <a:ln/>
        </p:spPr>
        <p:txBody>
          <a:bodyPr wrap="square" lIns="0" tIns="0" rIns="0" bIns="0" rtlCol="0" anchor="t"/>
          <a:lstStyle/>
          <a:p>
            <a:pPr marL="0" indent="0" algn="ctr">
              <a:buNone/>
            </a:pPr>
            <a:r>
              <a:rPr lang="en-US" sz="1100" dirty="0">
                <a:solidFill>
                  <a:schemeClr val="tx1"/>
                </a:solidFill>
              </a:rPr>
              <a:t>Sí</a:t>
            </a:r>
            <a:endParaRPr lang="en-US" sz="1100" dirty="0"/>
          </a:p>
        </p:txBody>
      </p:sp>
      <p:sp>
        <p:nvSpPr>
          <p:cNvPr id="7" name="Text 5"/>
          <p:cNvSpPr txBox="1"/>
          <p:nvPr/>
        </p:nvSpPr>
        <p:spPr>
          <a:xfrm>
            <a:off x="365760" y="1828800"/>
            <a:ext cx="548640" cy="658368"/>
          </a:xfrm>
          <a:prstGeom prst="rect">
            <a:avLst/>
          </a:prstGeom>
          <a:noFill/>
          <a:ln/>
        </p:spPr>
        <p:txBody>
          <a:bodyPr wrap="square" lIns="0" tIns="0" rIns="0" bIns="0" rtlCol="0" anchor="ctr"/>
          <a:lstStyle/>
          <a:p>
            <a:pPr marL="0" indent="0" algn="r">
              <a:buNone/>
            </a:pPr>
            <a:r>
              <a:rPr lang="en-US" sz="1100" dirty="0">
                <a:solidFill>
                  <a:schemeClr val="tx1"/>
                </a:solidFill>
              </a:rPr>
              <a:t>No</a:t>
            </a:r>
            <a:endParaRPr lang="en-US" sz="1100" dirty="0"/>
          </a:p>
        </p:txBody>
      </p:sp>
      <p:sp>
        <p:nvSpPr>
          <p:cNvPr id="8" name="Text 6"/>
          <p:cNvSpPr txBox="1"/>
          <p:nvPr/>
        </p:nvSpPr>
        <p:spPr>
          <a:xfrm>
            <a:off x="365760" y="2487168"/>
            <a:ext cx="548640" cy="658368"/>
          </a:xfrm>
          <a:prstGeom prst="rect">
            <a:avLst/>
          </a:prstGeom>
          <a:noFill/>
          <a:ln/>
        </p:spPr>
        <p:txBody>
          <a:bodyPr wrap="square" lIns="0" tIns="0" rIns="0" bIns="0" rtlCol="0" anchor="ctr"/>
          <a:lstStyle/>
          <a:p>
            <a:pPr marL="0" indent="0" algn="r">
              <a:buNone/>
            </a:pPr>
            <a:r>
              <a:rPr lang="en-US" sz="1100" dirty="0">
                <a:solidFill>
                  <a:schemeClr val="tx1"/>
                </a:solidFill>
              </a:rPr>
              <a:t>Sí</a:t>
            </a:r>
            <a:endParaRPr lang="en-US" sz="1100" dirty="0"/>
          </a:p>
        </p:txBody>
      </p:sp>
      <p:sp>
        <p:nvSpPr>
          <p:cNvPr id="9" name="cm_base_00"/>
          <p:cNvSpPr/>
          <p:nvPr/>
        </p:nvSpPr>
        <p:spPr>
          <a:xfrm>
            <a:off x="1005840" y="1828800"/>
            <a:ext cx="1051560" cy="658368"/>
          </a:xfrm>
          <a:prstGeom prst="rect">
            <a:avLst/>
          </a:prstGeom>
          <a:solidFill>
            <a:srgbClr val="EEF2F7"/>
          </a:solidFill>
          <a:ln w="25400">
            <a:solidFill>
              <a:srgbClr val="FFFFFF"/>
            </a:solidFill>
            <a:prstDash val="solid"/>
          </a:ln>
        </p:spPr>
        <p:txBody>
          <a:bodyPr/>
          <a:lstStyle/>
          <a:p>
            <a:endParaRPr lang="es-MX"/>
          </a:p>
        </p:txBody>
      </p:sp>
      <p:sp>
        <p:nvSpPr>
          <p:cNvPr id="10" name="Text 8"/>
          <p:cNvSpPr txBox="1"/>
          <p:nvPr/>
        </p:nvSpPr>
        <p:spPr>
          <a:xfrm>
            <a:off x="1005840" y="1828800"/>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926</a:t>
            </a:r>
            <a:endParaRPr lang="en-US" sz="2000" dirty="0"/>
          </a:p>
        </p:txBody>
      </p:sp>
      <p:sp>
        <p:nvSpPr>
          <p:cNvPr id="11" name="cm_base_01"/>
          <p:cNvSpPr/>
          <p:nvPr/>
        </p:nvSpPr>
        <p:spPr>
          <a:xfrm>
            <a:off x="2057400" y="1828800"/>
            <a:ext cx="1051560" cy="658368"/>
          </a:xfrm>
          <a:prstGeom prst="rect">
            <a:avLst/>
          </a:prstGeom>
          <a:solidFill>
            <a:srgbClr val="FBE3DC"/>
          </a:solidFill>
          <a:ln w="25400">
            <a:solidFill>
              <a:srgbClr val="FFFFFF"/>
            </a:solidFill>
            <a:prstDash val="solid"/>
          </a:ln>
        </p:spPr>
        <p:txBody>
          <a:bodyPr/>
          <a:lstStyle/>
          <a:p>
            <a:endParaRPr lang="es-MX"/>
          </a:p>
        </p:txBody>
      </p:sp>
      <p:sp>
        <p:nvSpPr>
          <p:cNvPr id="12" name="Text 10"/>
          <p:cNvSpPr txBox="1"/>
          <p:nvPr/>
        </p:nvSpPr>
        <p:spPr>
          <a:xfrm>
            <a:off x="2057400" y="1828800"/>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109</a:t>
            </a:r>
            <a:endParaRPr lang="en-US" sz="2000" dirty="0"/>
          </a:p>
        </p:txBody>
      </p:sp>
      <p:sp>
        <p:nvSpPr>
          <p:cNvPr id="13" name="cm_base_10"/>
          <p:cNvSpPr/>
          <p:nvPr/>
        </p:nvSpPr>
        <p:spPr>
          <a:xfrm>
            <a:off x="1005840" y="2487168"/>
            <a:ext cx="1051560" cy="658368"/>
          </a:xfrm>
          <a:prstGeom prst="rect">
            <a:avLst/>
          </a:prstGeom>
          <a:solidFill>
            <a:srgbClr val="FBE3DC"/>
          </a:solidFill>
          <a:ln w="25400">
            <a:solidFill>
              <a:srgbClr val="FFFFFF"/>
            </a:solidFill>
            <a:prstDash val="solid"/>
          </a:ln>
        </p:spPr>
        <p:txBody>
          <a:bodyPr/>
          <a:lstStyle/>
          <a:p>
            <a:endParaRPr lang="es-MX"/>
          </a:p>
        </p:txBody>
      </p:sp>
      <p:sp>
        <p:nvSpPr>
          <p:cNvPr id="14" name="Text 12"/>
          <p:cNvSpPr txBox="1"/>
          <p:nvPr/>
        </p:nvSpPr>
        <p:spPr>
          <a:xfrm>
            <a:off x="1005840" y="2487168"/>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167</a:t>
            </a:r>
            <a:endParaRPr lang="en-US" sz="2000" dirty="0"/>
          </a:p>
        </p:txBody>
      </p:sp>
      <p:sp>
        <p:nvSpPr>
          <p:cNvPr id="15" name="cm_base_11"/>
          <p:cNvSpPr/>
          <p:nvPr/>
        </p:nvSpPr>
        <p:spPr>
          <a:xfrm>
            <a:off x="2057400" y="2487168"/>
            <a:ext cx="1051560" cy="658368"/>
          </a:xfrm>
          <a:prstGeom prst="rect">
            <a:avLst/>
          </a:prstGeom>
          <a:solidFill>
            <a:srgbClr val="D6EFEC"/>
          </a:solidFill>
          <a:ln w="25400">
            <a:solidFill>
              <a:srgbClr val="FFFFFF"/>
            </a:solidFill>
            <a:prstDash val="solid"/>
          </a:ln>
        </p:spPr>
        <p:txBody>
          <a:bodyPr/>
          <a:lstStyle/>
          <a:p>
            <a:endParaRPr lang="es-MX"/>
          </a:p>
        </p:txBody>
      </p:sp>
      <p:sp>
        <p:nvSpPr>
          <p:cNvPr id="16" name="Text 14"/>
          <p:cNvSpPr txBox="1"/>
          <p:nvPr/>
        </p:nvSpPr>
        <p:spPr>
          <a:xfrm>
            <a:off x="2057400" y="2487168"/>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207</a:t>
            </a:r>
            <a:endParaRPr lang="en-US" sz="2000" dirty="0"/>
          </a:p>
        </p:txBody>
      </p:sp>
      <p:sp>
        <p:nvSpPr>
          <p:cNvPr id="17" name="Text 15"/>
          <p:cNvSpPr txBox="1"/>
          <p:nvPr/>
        </p:nvSpPr>
        <p:spPr>
          <a:xfrm>
            <a:off x="3200400" y="1051560"/>
            <a:ext cx="2743200" cy="320040"/>
          </a:xfrm>
          <a:prstGeom prst="rect">
            <a:avLst/>
          </a:prstGeom>
          <a:noFill/>
          <a:ln/>
        </p:spPr>
        <p:txBody>
          <a:bodyPr wrap="square" lIns="0" tIns="0" rIns="0" bIns="0" rtlCol="0" anchor="t"/>
          <a:lstStyle/>
          <a:p>
            <a:pPr marL="0" indent="0" algn="ctr">
              <a:buNone/>
            </a:pPr>
            <a:r>
              <a:rPr lang="en-US" sz="1400" b="1" dirty="0">
                <a:solidFill>
                  <a:schemeClr val="tx2"/>
                </a:solidFill>
              </a:rPr>
              <a:t>Ponderación de clases</a:t>
            </a:r>
            <a:endParaRPr lang="en-US" sz="1400" dirty="0"/>
          </a:p>
        </p:txBody>
      </p:sp>
      <p:sp>
        <p:nvSpPr>
          <p:cNvPr id="18" name="Text 16"/>
          <p:cNvSpPr txBox="1"/>
          <p:nvPr/>
        </p:nvSpPr>
        <p:spPr>
          <a:xfrm>
            <a:off x="3840480" y="1371600"/>
            <a:ext cx="2103120" cy="228600"/>
          </a:xfrm>
          <a:prstGeom prst="rect">
            <a:avLst/>
          </a:prstGeom>
          <a:noFill/>
          <a:ln/>
        </p:spPr>
        <p:txBody>
          <a:bodyPr wrap="square" lIns="0" tIns="0" rIns="0" bIns="0" rtlCol="0" anchor="t"/>
          <a:lstStyle/>
          <a:p>
            <a:pPr marL="0" indent="0" algn="ctr">
              <a:buNone/>
            </a:pPr>
            <a:r>
              <a:rPr lang="en-US" sz="1000" dirty="0">
                <a:solidFill>
                  <a:schemeClr val="accent6"/>
                </a:solidFill>
              </a:rPr>
              <a:t>Predicción</a:t>
            </a:r>
            <a:endParaRPr lang="en-US" sz="1000" dirty="0"/>
          </a:p>
        </p:txBody>
      </p:sp>
      <p:sp>
        <p:nvSpPr>
          <p:cNvPr id="19" name="Text 17"/>
          <p:cNvSpPr txBox="1"/>
          <p:nvPr/>
        </p:nvSpPr>
        <p:spPr>
          <a:xfrm>
            <a:off x="3840480" y="1600200"/>
            <a:ext cx="1051560" cy="228600"/>
          </a:xfrm>
          <a:prstGeom prst="rect">
            <a:avLst/>
          </a:prstGeom>
          <a:noFill/>
          <a:ln/>
        </p:spPr>
        <p:txBody>
          <a:bodyPr wrap="square" lIns="0" tIns="0" rIns="0" bIns="0" rtlCol="0" anchor="t"/>
          <a:lstStyle/>
          <a:p>
            <a:pPr marL="0" indent="0" algn="ctr">
              <a:buNone/>
            </a:pPr>
            <a:r>
              <a:rPr lang="en-US" sz="1100" dirty="0">
                <a:solidFill>
                  <a:schemeClr val="tx1"/>
                </a:solidFill>
              </a:rPr>
              <a:t>No</a:t>
            </a:r>
            <a:endParaRPr lang="en-US" sz="1100" dirty="0"/>
          </a:p>
        </p:txBody>
      </p:sp>
      <p:sp>
        <p:nvSpPr>
          <p:cNvPr id="20" name="Text 18"/>
          <p:cNvSpPr txBox="1"/>
          <p:nvPr/>
        </p:nvSpPr>
        <p:spPr>
          <a:xfrm>
            <a:off x="4892040" y="1600200"/>
            <a:ext cx="1051560" cy="228600"/>
          </a:xfrm>
          <a:prstGeom prst="rect">
            <a:avLst/>
          </a:prstGeom>
          <a:noFill/>
          <a:ln/>
        </p:spPr>
        <p:txBody>
          <a:bodyPr wrap="square" lIns="0" tIns="0" rIns="0" bIns="0" rtlCol="0" anchor="t"/>
          <a:lstStyle/>
          <a:p>
            <a:pPr marL="0" indent="0" algn="ctr">
              <a:buNone/>
            </a:pPr>
            <a:r>
              <a:rPr lang="en-US" sz="1100" dirty="0">
                <a:solidFill>
                  <a:schemeClr val="tx1"/>
                </a:solidFill>
              </a:rPr>
              <a:t>Sí</a:t>
            </a:r>
            <a:endParaRPr lang="en-US" sz="1100" dirty="0"/>
          </a:p>
        </p:txBody>
      </p:sp>
      <p:sp>
        <p:nvSpPr>
          <p:cNvPr id="21" name="Text 19"/>
          <p:cNvSpPr txBox="1"/>
          <p:nvPr/>
        </p:nvSpPr>
        <p:spPr>
          <a:xfrm>
            <a:off x="3200400" y="1828800"/>
            <a:ext cx="548640" cy="658368"/>
          </a:xfrm>
          <a:prstGeom prst="rect">
            <a:avLst/>
          </a:prstGeom>
          <a:noFill/>
          <a:ln/>
        </p:spPr>
        <p:txBody>
          <a:bodyPr wrap="square" lIns="0" tIns="0" rIns="0" bIns="0" rtlCol="0" anchor="ctr"/>
          <a:lstStyle/>
          <a:p>
            <a:pPr marL="0" indent="0" algn="r">
              <a:buNone/>
            </a:pPr>
            <a:r>
              <a:rPr lang="en-US" sz="1100" dirty="0">
                <a:solidFill>
                  <a:schemeClr val="tx1"/>
                </a:solidFill>
              </a:rPr>
              <a:t>No</a:t>
            </a:r>
            <a:endParaRPr lang="en-US" sz="1100" dirty="0"/>
          </a:p>
        </p:txBody>
      </p:sp>
      <p:sp>
        <p:nvSpPr>
          <p:cNvPr id="22" name="Text 20"/>
          <p:cNvSpPr txBox="1"/>
          <p:nvPr/>
        </p:nvSpPr>
        <p:spPr>
          <a:xfrm>
            <a:off x="3200400" y="2487168"/>
            <a:ext cx="548640" cy="658368"/>
          </a:xfrm>
          <a:prstGeom prst="rect">
            <a:avLst/>
          </a:prstGeom>
          <a:noFill/>
          <a:ln/>
        </p:spPr>
        <p:txBody>
          <a:bodyPr wrap="square" lIns="0" tIns="0" rIns="0" bIns="0" rtlCol="0" anchor="ctr"/>
          <a:lstStyle/>
          <a:p>
            <a:pPr marL="0" indent="0" algn="r">
              <a:buNone/>
            </a:pPr>
            <a:r>
              <a:rPr lang="en-US" sz="1100" dirty="0">
                <a:solidFill>
                  <a:schemeClr val="tx1"/>
                </a:solidFill>
              </a:rPr>
              <a:t>Sí</a:t>
            </a:r>
            <a:endParaRPr lang="en-US" sz="1100" dirty="0"/>
          </a:p>
        </p:txBody>
      </p:sp>
      <p:sp>
        <p:nvSpPr>
          <p:cNvPr id="23" name="cm_pond_00"/>
          <p:cNvSpPr/>
          <p:nvPr/>
        </p:nvSpPr>
        <p:spPr>
          <a:xfrm>
            <a:off x="3840480" y="1828800"/>
            <a:ext cx="1051560" cy="658368"/>
          </a:xfrm>
          <a:prstGeom prst="rect">
            <a:avLst/>
          </a:prstGeom>
          <a:solidFill>
            <a:srgbClr val="EEF2F7"/>
          </a:solidFill>
          <a:ln w="25400">
            <a:solidFill>
              <a:srgbClr val="FFFFFF"/>
            </a:solidFill>
            <a:prstDash val="solid"/>
          </a:ln>
        </p:spPr>
        <p:txBody>
          <a:bodyPr/>
          <a:lstStyle/>
          <a:p>
            <a:endParaRPr lang="es-MX"/>
          </a:p>
        </p:txBody>
      </p:sp>
      <p:sp>
        <p:nvSpPr>
          <p:cNvPr id="24" name="Text 22"/>
          <p:cNvSpPr txBox="1"/>
          <p:nvPr/>
        </p:nvSpPr>
        <p:spPr>
          <a:xfrm>
            <a:off x="3840480" y="1828800"/>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746</a:t>
            </a:r>
            <a:endParaRPr lang="en-US" sz="2000" dirty="0"/>
          </a:p>
        </p:txBody>
      </p:sp>
      <p:sp>
        <p:nvSpPr>
          <p:cNvPr id="25" name="cm_pond_01"/>
          <p:cNvSpPr/>
          <p:nvPr/>
        </p:nvSpPr>
        <p:spPr>
          <a:xfrm>
            <a:off x="4892040" y="1828800"/>
            <a:ext cx="1051560" cy="658368"/>
          </a:xfrm>
          <a:prstGeom prst="rect">
            <a:avLst/>
          </a:prstGeom>
          <a:solidFill>
            <a:srgbClr val="FBE3DC"/>
          </a:solidFill>
          <a:ln w="25400">
            <a:solidFill>
              <a:srgbClr val="FFFFFF"/>
            </a:solidFill>
            <a:prstDash val="solid"/>
          </a:ln>
        </p:spPr>
        <p:txBody>
          <a:bodyPr/>
          <a:lstStyle/>
          <a:p>
            <a:endParaRPr lang="es-MX"/>
          </a:p>
        </p:txBody>
      </p:sp>
      <p:sp>
        <p:nvSpPr>
          <p:cNvPr id="26" name="Text 24"/>
          <p:cNvSpPr txBox="1"/>
          <p:nvPr/>
        </p:nvSpPr>
        <p:spPr>
          <a:xfrm>
            <a:off x="4892040" y="1828800"/>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289</a:t>
            </a:r>
            <a:endParaRPr lang="en-US" sz="2000" dirty="0"/>
          </a:p>
        </p:txBody>
      </p:sp>
      <p:sp>
        <p:nvSpPr>
          <p:cNvPr id="27" name="cm_pond_10"/>
          <p:cNvSpPr/>
          <p:nvPr/>
        </p:nvSpPr>
        <p:spPr>
          <a:xfrm>
            <a:off x="3840480" y="2487168"/>
            <a:ext cx="1051560" cy="658368"/>
          </a:xfrm>
          <a:prstGeom prst="rect">
            <a:avLst/>
          </a:prstGeom>
          <a:solidFill>
            <a:srgbClr val="FBE3DC"/>
          </a:solidFill>
          <a:ln w="25400">
            <a:solidFill>
              <a:srgbClr val="FFFFFF"/>
            </a:solidFill>
            <a:prstDash val="solid"/>
          </a:ln>
        </p:spPr>
        <p:txBody>
          <a:bodyPr/>
          <a:lstStyle/>
          <a:p>
            <a:endParaRPr lang="es-MX"/>
          </a:p>
        </p:txBody>
      </p:sp>
      <p:sp>
        <p:nvSpPr>
          <p:cNvPr id="28" name="Text 26"/>
          <p:cNvSpPr txBox="1"/>
          <p:nvPr/>
        </p:nvSpPr>
        <p:spPr>
          <a:xfrm>
            <a:off x="3840480" y="2487168"/>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81</a:t>
            </a:r>
            <a:endParaRPr lang="en-US" sz="2000" dirty="0"/>
          </a:p>
        </p:txBody>
      </p:sp>
      <p:sp>
        <p:nvSpPr>
          <p:cNvPr id="29" name="cm_pond_11"/>
          <p:cNvSpPr/>
          <p:nvPr/>
        </p:nvSpPr>
        <p:spPr>
          <a:xfrm>
            <a:off x="4892040" y="2487168"/>
            <a:ext cx="1051560" cy="658368"/>
          </a:xfrm>
          <a:prstGeom prst="rect">
            <a:avLst/>
          </a:prstGeom>
          <a:solidFill>
            <a:srgbClr val="D6EFEC"/>
          </a:solidFill>
          <a:ln w="25400">
            <a:solidFill>
              <a:srgbClr val="FFFFFF"/>
            </a:solidFill>
            <a:prstDash val="solid"/>
          </a:ln>
        </p:spPr>
        <p:txBody>
          <a:bodyPr/>
          <a:lstStyle/>
          <a:p>
            <a:endParaRPr lang="es-MX"/>
          </a:p>
        </p:txBody>
      </p:sp>
      <p:sp>
        <p:nvSpPr>
          <p:cNvPr id="30" name="Text 28"/>
          <p:cNvSpPr txBox="1"/>
          <p:nvPr/>
        </p:nvSpPr>
        <p:spPr>
          <a:xfrm>
            <a:off x="4892040" y="2487168"/>
            <a:ext cx="1051560" cy="658368"/>
          </a:xfrm>
          <a:prstGeom prst="rect">
            <a:avLst/>
          </a:prstGeom>
          <a:noFill/>
          <a:ln/>
        </p:spPr>
        <p:txBody>
          <a:bodyPr wrap="square" lIns="0" tIns="0" rIns="0" bIns="0" rtlCol="0" anchor="ctr"/>
          <a:lstStyle/>
          <a:p>
            <a:pPr marL="0" indent="0" algn="ctr">
              <a:buNone/>
            </a:pPr>
            <a:r>
              <a:rPr lang="en-US" sz="2000" b="1" dirty="0">
                <a:solidFill>
                  <a:schemeClr val="tx1"/>
                </a:solidFill>
              </a:rPr>
              <a:t>293</a:t>
            </a:r>
            <a:endParaRPr lang="en-US" sz="2000" dirty="0"/>
          </a:p>
        </p:txBody>
      </p:sp>
      <p:sp>
        <p:nvSpPr>
          <p:cNvPr id="31" name="Text 29"/>
          <p:cNvSpPr txBox="1"/>
          <p:nvPr/>
        </p:nvSpPr>
        <p:spPr>
          <a:xfrm>
            <a:off x="365760" y="3182112"/>
            <a:ext cx="5577840" cy="274320"/>
          </a:xfrm>
          <a:prstGeom prst="rect">
            <a:avLst/>
          </a:prstGeom>
          <a:noFill/>
          <a:ln/>
        </p:spPr>
        <p:txBody>
          <a:bodyPr wrap="square" lIns="0" tIns="0" rIns="0" bIns="0" rtlCol="0" anchor="t"/>
          <a:lstStyle/>
          <a:p>
            <a:pPr marL="0" indent="0" algn="ctr">
              <a:buNone/>
            </a:pPr>
            <a:r>
              <a:rPr lang="en-US" sz="1000" dirty="0">
                <a:solidFill>
                  <a:schemeClr val="accent6"/>
                </a:solidFill>
              </a:rPr>
              <a:t>Filas: valor real · Columnas: predicción · Telco: 1,409 clientes, 374 abandonos</a:t>
            </a:r>
            <a:endParaRPr lang="en-US" sz="1000" dirty="0"/>
          </a:p>
        </p:txBody>
      </p:sp>
      <p:graphicFrame>
        <p:nvGraphicFramePr>
          <p:cNvPr id="32" name="tabla_prueba"/>
          <p:cNvGraphicFramePr>
            <a:graphicFrameLocks noGrp="1"/>
          </p:cNvGraphicFramePr>
          <p:nvPr>
            <p:extLst>
              <p:ext uri="{D42A27DB-BD31-4B8C-83A1-F6EECF244321}">
                <p14:modId xmlns:p14="http://schemas.microsoft.com/office/powerpoint/2010/main" val="1579011935"/>
              </p:ext>
            </p:extLst>
          </p:nvPr>
        </p:nvGraphicFramePr>
        <p:xfrm>
          <a:off x="457200" y="3520440"/>
          <a:ext cx="5486400" cy="1036320"/>
        </p:xfrm>
        <a:graphic>
          <a:graphicData uri="http://schemas.openxmlformats.org/drawingml/2006/table">
            <a:tbl>
              <a:tblPr/>
              <a:tblGrid>
                <a:gridCol w="173736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237744">
                <a:tc>
                  <a:txBody>
                    <a:bodyPr/>
                    <a:lstStyle/>
                    <a:p>
                      <a:pPr marL="0" indent="0">
                        <a:buNone/>
                      </a:pPr>
                      <a:r>
                        <a:rPr lang="en-US" sz="1100" b="1" dirty="0">
                          <a:solidFill>
                            <a:srgbClr val="FFFFFF"/>
                          </a:solidFill>
                        </a:rPr>
                        <a:t>Prueba</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Recall</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Precision</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F1</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tc>
                  <a:txBody>
                    <a:bodyPr/>
                    <a:lstStyle/>
                    <a:p>
                      <a:pPr marL="0" indent="0">
                        <a:buNone/>
                      </a:pPr>
                      <a:r>
                        <a:rPr lang="en-US" sz="1100" b="1" dirty="0">
                          <a:solidFill>
                            <a:srgbClr val="FFFFFF"/>
                          </a:solidFill>
                        </a:rPr>
                        <a:t>ROC-AUC</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solidFill>
                      <a:srgbClr val="1F3A5F"/>
                    </a:solidFill>
                  </a:tcPr>
                </a:tc>
                <a:extLst>
                  <a:ext uri="{0D108BD9-81ED-4DB2-BD59-A6C34878D82A}">
                    <a16:rowId xmlns:a16="http://schemas.microsoft.com/office/drawing/2014/main" val="10000"/>
                  </a:ext>
                </a:extLst>
              </a:tr>
              <a:tr h="237744">
                <a:tc>
                  <a:txBody>
                    <a:bodyPr/>
                    <a:lstStyle/>
                    <a:p>
                      <a:pPr marL="0" indent="0">
                        <a:buNone/>
                      </a:pPr>
                      <a:r>
                        <a:rPr lang="en-US" sz="1100" dirty="0">
                          <a:solidFill>
                            <a:srgbClr val="1B1F24"/>
                          </a:solidFill>
                        </a:rPr>
                        <a:t>Telco sin balanceo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0.553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0.655</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0.600</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0.842</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1100" b="1" dirty="0">
                          <a:solidFill>
                            <a:srgbClr val="1B1F24"/>
                          </a:solidFill>
                        </a:rPr>
                        <a:t>Telco ponderación</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b="1" dirty="0">
                          <a:solidFill>
                            <a:srgbClr val="1B1F24"/>
                          </a:solidFill>
                        </a:rPr>
                        <a:t>0.783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b="1" dirty="0">
                          <a:solidFill>
                            <a:srgbClr val="1B1F24"/>
                          </a:solidFill>
                        </a:rPr>
                        <a:t>0.503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b="1" dirty="0">
                          <a:solidFill>
                            <a:srgbClr val="1B1F24"/>
                          </a:solidFill>
                        </a:rPr>
                        <a:t>0.613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b="1" dirty="0">
                          <a:solidFill>
                            <a:srgbClr val="1B1F24"/>
                          </a:solidFill>
                        </a:rPr>
                        <a:t>0.842</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1100" dirty="0">
                          <a:solidFill>
                            <a:srgbClr val="1B1F24"/>
                          </a:solidFill>
                        </a:rPr>
                        <a:t>Titanic (elegido)</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0.667</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0.793</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0.724</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tc>
                  <a:txBody>
                    <a:bodyPr/>
                    <a:lstStyle/>
                    <a:p>
                      <a:pPr marL="0" indent="0">
                        <a:buNone/>
                      </a:pPr>
                      <a:r>
                        <a:rPr lang="en-US" sz="1100" dirty="0">
                          <a:solidFill>
                            <a:srgbClr val="1B1F24"/>
                          </a:solidFill>
                        </a:rPr>
                        <a:t>0.842</a:t>
                      </a:r>
                      <a:endParaRPr lang="en-US" sz="1100" dirty="0"/>
                    </a:p>
                  </a:txBody>
                  <a:tcPr>
                    <a:lnL w="6350" cap="flat" cmpd="sng" algn="ctr">
                      <a:solidFill>
                        <a:srgbClr val="C9D2DC"/>
                      </a:solidFill>
                      <a:prstDash val="solid"/>
                      <a:round/>
                      <a:headEnd type="none" w="med" len="med"/>
                      <a:tailEnd type="none" w="med" len="med"/>
                    </a:lnL>
                    <a:lnR w="6350" cap="flat" cmpd="sng" algn="ctr">
                      <a:solidFill>
                        <a:srgbClr val="C9D2DC"/>
                      </a:solidFill>
                      <a:prstDash val="solid"/>
                      <a:round/>
                      <a:headEnd type="none" w="med" len="med"/>
                      <a:tailEnd type="none" w="med" len="med"/>
                    </a:lnR>
                    <a:lnT w="6350" cap="flat" cmpd="sng" algn="ctr">
                      <a:solidFill>
                        <a:srgbClr val="C9D2DC"/>
                      </a:solidFill>
                      <a:prstDash val="solid"/>
                      <a:round/>
                      <a:headEnd type="none" w="med" len="med"/>
                      <a:tailEnd type="none" w="med" len="med"/>
                    </a:lnT>
                    <a:lnB w="6350" cap="flat" cmpd="sng" algn="ctr">
                      <a:solidFill>
                        <a:srgbClr val="C9D2DC"/>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3" name="detecta"/>
          <p:cNvSpPr/>
          <p:nvPr/>
        </p:nvSpPr>
        <p:spPr>
          <a:xfrm>
            <a:off x="6217920" y="1051560"/>
            <a:ext cx="2468880" cy="1645920"/>
          </a:xfrm>
          <a:prstGeom prst="roundRect">
            <a:avLst>
              <a:gd name="adj" fmla="val 4444"/>
            </a:avLst>
          </a:prstGeom>
          <a:solidFill>
            <a:schemeClr val="bg2"/>
          </a:solidFill>
          <a:ln w="12700">
            <a:solidFill>
              <a:schemeClr val="bg2"/>
            </a:solidFill>
            <a:prstDash val="solid"/>
          </a:ln>
        </p:spPr>
        <p:txBody>
          <a:bodyPr/>
          <a:lstStyle/>
          <a:p>
            <a:endParaRPr lang="es-MX"/>
          </a:p>
        </p:txBody>
      </p:sp>
      <p:sp>
        <p:nvSpPr>
          <p:cNvPr id="34" name="Text 31"/>
          <p:cNvSpPr txBox="1"/>
          <p:nvPr/>
        </p:nvSpPr>
        <p:spPr>
          <a:xfrm>
            <a:off x="6400800" y="1143000"/>
            <a:ext cx="2148840" cy="1463040"/>
          </a:xfrm>
          <a:prstGeom prst="rect">
            <a:avLst/>
          </a:prstGeom>
          <a:noFill/>
          <a:ln/>
        </p:spPr>
        <p:txBody>
          <a:bodyPr wrap="square" lIns="0" tIns="0" rIns="0" bIns="0" rtlCol="0" anchor="t"/>
          <a:lstStyle/>
          <a:p>
            <a:pPr marL="0" indent="0">
              <a:buNone/>
            </a:pPr>
            <a:r>
              <a:rPr lang="en-US" sz="3400" b="1" dirty="0">
                <a:solidFill>
                  <a:schemeClr val="accent3"/>
                </a:solidFill>
              </a:rPr>
              <a:t>+86</a:t>
            </a:r>
            <a:endParaRPr lang="en-US" sz="3400" dirty="0"/>
          </a:p>
          <a:p>
            <a:pPr marL="0" indent="0">
              <a:buNone/>
            </a:pPr>
            <a:r>
              <a:rPr lang="en-US" sz="1200" dirty="0">
                <a:solidFill>
                  <a:schemeClr val="tx1"/>
                </a:solidFill>
              </a:rPr>
              <a:t>abandonos detectados con ponderación (207 → 293)</a:t>
            </a:r>
            <a:endParaRPr lang="en-US" sz="3400" dirty="0"/>
          </a:p>
        </p:txBody>
      </p:sp>
      <p:sp>
        <p:nvSpPr>
          <p:cNvPr id="35" name="alarmas"/>
          <p:cNvSpPr/>
          <p:nvPr/>
        </p:nvSpPr>
        <p:spPr>
          <a:xfrm>
            <a:off x="6217920" y="2880360"/>
            <a:ext cx="2468880" cy="1691640"/>
          </a:xfrm>
          <a:prstGeom prst="roundRect">
            <a:avLst>
              <a:gd name="adj" fmla="val 4324"/>
            </a:avLst>
          </a:prstGeom>
          <a:solidFill>
            <a:schemeClr val="bg2"/>
          </a:solidFill>
          <a:ln w="12700">
            <a:solidFill>
              <a:schemeClr val="bg2"/>
            </a:solidFill>
            <a:prstDash val="solid"/>
          </a:ln>
        </p:spPr>
        <p:txBody>
          <a:bodyPr/>
          <a:lstStyle/>
          <a:p>
            <a:endParaRPr lang="es-MX"/>
          </a:p>
        </p:txBody>
      </p:sp>
      <p:sp>
        <p:nvSpPr>
          <p:cNvPr id="36" name="Text 33"/>
          <p:cNvSpPr txBox="1"/>
          <p:nvPr/>
        </p:nvSpPr>
        <p:spPr>
          <a:xfrm>
            <a:off x="6400800" y="2971800"/>
            <a:ext cx="2148840" cy="1463040"/>
          </a:xfrm>
          <a:prstGeom prst="rect">
            <a:avLst/>
          </a:prstGeom>
          <a:noFill/>
          <a:ln/>
        </p:spPr>
        <p:txBody>
          <a:bodyPr wrap="square" lIns="0" tIns="0" rIns="0" bIns="0" rtlCol="0" anchor="t"/>
          <a:lstStyle/>
          <a:p>
            <a:pPr marL="0" indent="0">
              <a:buNone/>
            </a:pPr>
            <a:r>
              <a:rPr lang="en-US" sz="3400" b="1" dirty="0">
                <a:solidFill>
                  <a:schemeClr val="tx2"/>
                </a:solidFill>
              </a:rPr>
              <a:t>+180</a:t>
            </a:r>
            <a:endParaRPr lang="en-US" sz="3400" dirty="0"/>
          </a:p>
          <a:p>
            <a:pPr marL="0" indent="0">
              <a:buNone/>
            </a:pPr>
            <a:r>
              <a:rPr lang="en-US" sz="1200" dirty="0">
                <a:solidFill>
                  <a:schemeClr val="tx1"/>
                </a:solidFill>
              </a:rPr>
              <a:t>falsas alarmas a cambio (109 → 289)</a:t>
            </a:r>
            <a:endParaRPr lang="en-US" sz="3400" dirty="0"/>
          </a:p>
        </p:txBody>
      </p:sp>
      <p:sp>
        <p:nvSpPr>
          <p:cNvPr id="37"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Conclusiones y recomendación</a:t>
            </a:r>
            <a:endParaRPr lang="en-US" sz="2800" dirty="0"/>
          </a:p>
        </p:txBody>
      </p:sp>
      <p:sp>
        <p:nvSpPr>
          <p:cNvPr id="3" name="conclusiones"/>
          <p:cNvSpPr/>
          <p:nvPr/>
        </p:nvSpPr>
        <p:spPr>
          <a:xfrm>
            <a:off x="457200" y="1051560"/>
            <a:ext cx="3977640" cy="3154680"/>
          </a:xfrm>
          <a:prstGeom prst="roundRect">
            <a:avLst>
              <a:gd name="adj" fmla="val 2319"/>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685800" y="1188720"/>
            <a:ext cx="3566160" cy="36576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Conclusiones</a:t>
            </a:r>
            <a:endParaRPr lang="en-US" sz="1800" dirty="0"/>
          </a:p>
        </p:txBody>
      </p:sp>
      <p:sp>
        <p:nvSpPr>
          <p:cNvPr id="5" name="Text 3"/>
          <p:cNvSpPr txBox="1"/>
          <p:nvPr/>
        </p:nvSpPr>
        <p:spPr>
          <a:xfrm>
            <a:off x="685800" y="1645920"/>
            <a:ext cx="3566160" cy="28346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Revisar la calidad antes de modelar evitó errores silenciosos, como los vacíos de TotalCharges.</a:t>
            </a:r>
            <a:endParaRPr lang="en-US" sz="1300" dirty="0"/>
          </a:p>
          <a:p>
            <a:pPr marL="342900" indent="-342900">
              <a:spcAft>
                <a:spcPts val="800"/>
              </a:spcAft>
              <a:buSzPct val="100000"/>
              <a:buChar char="•"/>
            </a:pPr>
            <a:r>
              <a:rPr lang="en-US" sz="1300" dirty="0">
                <a:solidFill>
                  <a:schemeClr val="tx1"/>
                </a:solidFill>
              </a:rPr>
              <a:t>Imputar y winsorizar no mejoró el modelo, pero dejó los datos más robustos sin perder información.</a:t>
            </a:r>
            <a:endParaRPr lang="en-US" sz="1300" dirty="0"/>
          </a:p>
          <a:p>
            <a:pPr marL="342900" indent="-342900">
              <a:spcAft>
                <a:spcPts val="800"/>
              </a:spcAft>
              <a:buSzPct val="100000"/>
              <a:buChar char="•"/>
            </a:pPr>
            <a:r>
              <a:rPr lang="en-US" sz="1300" dirty="0">
                <a:solidFill>
                  <a:schemeClr val="tx1"/>
                </a:solidFill>
              </a:rPr>
              <a:t>El balanceo cambió el equilibrio entre recall y precision; la accuracy por sí sola habría engañado.</a:t>
            </a:r>
            <a:endParaRPr lang="en-US" sz="1300" dirty="0"/>
          </a:p>
        </p:txBody>
      </p:sp>
      <p:sp>
        <p:nvSpPr>
          <p:cNvPr id="6" name="recomendacion"/>
          <p:cNvSpPr/>
          <p:nvPr/>
        </p:nvSpPr>
        <p:spPr>
          <a:xfrm>
            <a:off x="4709160" y="1051560"/>
            <a:ext cx="3977640" cy="3154680"/>
          </a:xfrm>
          <a:prstGeom prst="roundRect">
            <a:avLst>
              <a:gd name="adj" fmla="val 2319"/>
            </a:avLst>
          </a:prstGeom>
          <a:solidFill>
            <a:schemeClr val="bg1"/>
          </a:solidFill>
          <a:ln w="12700">
            <a:solidFill>
              <a:srgbClr val="C9D2DC"/>
            </a:solidFill>
            <a:prstDash val="solid"/>
          </a:ln>
        </p:spPr>
        <p:txBody>
          <a:bodyPr/>
          <a:lstStyle/>
          <a:p>
            <a:endParaRPr lang="es-MX"/>
          </a:p>
        </p:txBody>
      </p:sp>
      <p:sp>
        <p:nvSpPr>
          <p:cNvPr id="7" name="Text 5"/>
          <p:cNvSpPr txBox="1"/>
          <p:nvPr/>
        </p:nvSpPr>
        <p:spPr>
          <a:xfrm>
            <a:off x="4937760" y="1188720"/>
            <a:ext cx="3566160" cy="365760"/>
          </a:xfrm>
          <a:prstGeom prst="rect">
            <a:avLst/>
          </a:prstGeom>
          <a:noFill/>
          <a:ln/>
        </p:spPr>
        <p:txBody>
          <a:bodyPr wrap="square" lIns="0" tIns="0" rIns="0" bIns="0" rtlCol="0" anchor="t"/>
          <a:lstStyle/>
          <a:p>
            <a:pPr marL="0" indent="0">
              <a:buNone/>
            </a:pPr>
            <a:r>
              <a:rPr lang="en-US" sz="1800" b="1" dirty="0">
                <a:solidFill>
                  <a:schemeClr val="accent3"/>
                </a:solidFill>
                <a:latin typeface="Cambria" pitchFamily="34" charset="0"/>
                <a:ea typeface="Cambria" pitchFamily="34" charset="-122"/>
                <a:cs typeface="Cambria" pitchFamily="34" charset="-120"/>
              </a:rPr>
              <a:t>Recomendación (Telco)</a:t>
            </a:r>
            <a:endParaRPr lang="en-US" sz="1800" dirty="0"/>
          </a:p>
        </p:txBody>
      </p:sp>
      <p:sp>
        <p:nvSpPr>
          <p:cNvPr id="8" name="Text 6"/>
          <p:cNvSpPr txBox="1"/>
          <p:nvPr/>
        </p:nvSpPr>
        <p:spPr>
          <a:xfrm>
            <a:off x="4937760" y="1645920"/>
            <a:ext cx="3566160" cy="28346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Mediana para imputar y ponderación de clases: misma calidad que las demás técnicas sin duplicar, inventar ni borrar datos.</a:t>
            </a:r>
            <a:endParaRPr lang="en-US" sz="1300" dirty="0"/>
          </a:p>
          <a:p>
            <a:pPr marL="342900" indent="-342900">
              <a:spcAft>
                <a:spcPts val="600"/>
              </a:spcAft>
              <a:buSzPct val="100000"/>
              <a:buChar char="•"/>
            </a:pPr>
            <a:r>
              <a:rPr lang="en-US" sz="1300" dirty="0">
                <a:solidFill>
                  <a:schemeClr val="tx1"/>
                </a:solidFill>
              </a:rPr>
              <a:t>Evaluar con recall, precision y F1 de "abandona".</a:t>
            </a:r>
            <a:endParaRPr lang="en-US" sz="1300" dirty="0"/>
          </a:p>
          <a:p>
            <a:pPr marL="342900" indent="-342900">
              <a:spcAft>
                <a:spcPts val="600"/>
              </a:spcAft>
              <a:buSzPct val="100000"/>
              <a:buChar char="•"/>
            </a:pPr>
            <a:r>
              <a:rPr lang="en-US" sz="1300" dirty="0">
                <a:solidFill>
                  <a:schemeClr val="tx1"/>
                </a:solidFill>
              </a:rPr>
              <a:t>Si cada falsa alarma cuesta mucho, usar el modelo sin balanceo o ajustar el umbral.</a:t>
            </a:r>
            <a:endParaRPr lang="en-US" sz="1300" dirty="0"/>
          </a:p>
          <a:p>
            <a:pPr marL="342900" indent="-342900">
              <a:spcAft>
                <a:spcPts val="600"/>
              </a:spcAft>
              <a:buSzPct val="100000"/>
              <a:buChar char="•"/>
            </a:pPr>
            <a:r>
              <a:rPr lang="en-US" sz="1300" dirty="0">
                <a:solidFill>
                  <a:schemeClr val="tx1"/>
                </a:solidFill>
              </a:rPr>
              <a:t>Priorizar contratos mensuales, clientes nuevos y fibra óptica.</a:t>
            </a:r>
            <a:endParaRPr lang="en-US" sz="13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685800"/>
          </a:xfrm>
          <a:prstGeom prst="rect">
            <a:avLst/>
          </a:prstGeom>
          <a:noFill/>
          <a:ln/>
        </p:spPr>
        <p:txBody>
          <a:bodyPr wrap="square" lIns="0" tIns="0" rIns="0" bIns="0" rtlCol="0" anchor="ctr"/>
          <a:lstStyle/>
          <a:p>
            <a:pPr marL="0" indent="0" algn="l">
              <a:buNone/>
            </a:pPr>
            <a:r>
              <a:rPr lang="en-US" sz="2800" b="1" dirty="0">
                <a:solidFill>
                  <a:schemeClr val="tx2"/>
                </a:solidFill>
                <a:latin typeface="Cambria" pitchFamily="34" charset="0"/>
                <a:ea typeface="Cambria" pitchFamily="34" charset="-122"/>
                <a:cs typeface="Cambria" pitchFamily="34" charset="-120"/>
              </a:rPr>
              <a:t>Limitaciones</a:t>
            </a:r>
            <a:endParaRPr lang="en-US" sz="2800" dirty="0"/>
          </a:p>
        </p:txBody>
      </p:sp>
      <p:sp>
        <p:nvSpPr>
          <p:cNvPr id="3" name="limitacion_0"/>
          <p:cNvSpPr/>
          <p:nvPr/>
        </p:nvSpPr>
        <p:spPr>
          <a:xfrm>
            <a:off x="457200" y="1051560"/>
            <a:ext cx="3977640" cy="1234440"/>
          </a:xfrm>
          <a:prstGeom prst="roundRect">
            <a:avLst>
              <a:gd name="adj" fmla="val 5926"/>
            </a:avLst>
          </a:prstGeom>
          <a:solidFill>
            <a:schemeClr val="bg2"/>
          </a:solidFill>
          <a:ln w="12700">
            <a:solidFill>
              <a:schemeClr val="bg2"/>
            </a:solidFill>
            <a:prstDash val="solid"/>
          </a:ln>
        </p:spPr>
        <p:txBody>
          <a:bodyPr/>
          <a:lstStyle/>
          <a:p>
            <a:endParaRPr lang="es-MX"/>
          </a:p>
        </p:txBody>
      </p:sp>
      <p:sp>
        <p:nvSpPr>
          <p:cNvPr id="4" name="Text 2"/>
          <p:cNvSpPr txBox="1"/>
          <p:nvPr/>
        </p:nvSpPr>
        <p:spPr>
          <a:xfrm>
            <a:off x="685800" y="1188720"/>
            <a:ext cx="3566160" cy="320040"/>
          </a:xfrm>
          <a:prstGeom prst="rect">
            <a:avLst/>
          </a:prstGeom>
          <a:noFill/>
          <a:ln/>
        </p:spPr>
        <p:txBody>
          <a:bodyPr wrap="square" lIns="0" tIns="0" rIns="0" bIns="0" rtlCol="0" anchor="t"/>
          <a:lstStyle/>
          <a:p>
            <a:pPr marL="0" indent="0">
              <a:buNone/>
            </a:pPr>
            <a:r>
              <a:rPr lang="en-US" sz="1500" b="1" dirty="0">
                <a:solidFill>
                  <a:schemeClr val="tx2"/>
                </a:solidFill>
              </a:rPr>
              <a:t>Un solo modelo</a:t>
            </a:r>
            <a:endParaRPr lang="en-US" sz="1500" dirty="0"/>
          </a:p>
        </p:txBody>
      </p:sp>
      <p:sp>
        <p:nvSpPr>
          <p:cNvPr id="5" name="Text 3"/>
          <p:cNvSpPr txBox="1"/>
          <p:nvPr/>
        </p:nvSpPr>
        <p:spPr>
          <a:xfrm>
            <a:off x="685800" y="1554480"/>
            <a:ext cx="3566160" cy="685800"/>
          </a:xfrm>
          <a:prstGeom prst="rect">
            <a:avLst/>
          </a:prstGeom>
          <a:noFill/>
          <a:ln/>
        </p:spPr>
        <p:txBody>
          <a:bodyPr wrap="square" lIns="0" tIns="0" rIns="0" bIns="0" rtlCol="0" anchor="t"/>
          <a:lstStyle/>
          <a:p>
            <a:pPr marL="0" indent="0">
              <a:buNone/>
            </a:pPr>
            <a:r>
              <a:rPr lang="en-US" sz="1250" dirty="0">
                <a:solidFill>
                  <a:schemeClr val="tx1"/>
                </a:solidFill>
              </a:rPr>
              <a:t>Usamos regresión logística con umbral de 0.5; otro modelo podría cambiar la comparación.</a:t>
            </a:r>
            <a:endParaRPr lang="en-US" sz="1250" dirty="0"/>
          </a:p>
        </p:txBody>
      </p:sp>
      <p:sp>
        <p:nvSpPr>
          <p:cNvPr id="6" name="limitacion_1"/>
          <p:cNvSpPr/>
          <p:nvPr/>
        </p:nvSpPr>
        <p:spPr>
          <a:xfrm>
            <a:off x="4709160" y="1051560"/>
            <a:ext cx="3977640" cy="1234440"/>
          </a:xfrm>
          <a:prstGeom prst="roundRect">
            <a:avLst>
              <a:gd name="adj" fmla="val 5926"/>
            </a:avLst>
          </a:prstGeom>
          <a:solidFill>
            <a:schemeClr val="bg2"/>
          </a:solidFill>
          <a:ln w="12700">
            <a:solidFill>
              <a:schemeClr val="bg2"/>
            </a:solidFill>
            <a:prstDash val="solid"/>
          </a:ln>
        </p:spPr>
        <p:txBody>
          <a:bodyPr/>
          <a:lstStyle/>
          <a:p>
            <a:endParaRPr lang="es-MX"/>
          </a:p>
        </p:txBody>
      </p:sp>
      <p:sp>
        <p:nvSpPr>
          <p:cNvPr id="7" name="Text 5"/>
          <p:cNvSpPr txBox="1"/>
          <p:nvPr/>
        </p:nvSpPr>
        <p:spPr>
          <a:xfrm>
            <a:off x="4937760" y="1188720"/>
            <a:ext cx="3566160" cy="320040"/>
          </a:xfrm>
          <a:prstGeom prst="rect">
            <a:avLst/>
          </a:prstGeom>
          <a:noFill/>
          <a:ln/>
        </p:spPr>
        <p:txBody>
          <a:bodyPr wrap="square" lIns="0" tIns="0" rIns="0" bIns="0" rtlCol="0" anchor="t"/>
          <a:lstStyle/>
          <a:p>
            <a:pPr marL="0" indent="0">
              <a:buNone/>
            </a:pPr>
            <a:r>
              <a:rPr lang="en-US" sz="1500" b="1" dirty="0">
                <a:solidFill>
                  <a:schemeClr val="tx2"/>
                </a:solidFill>
              </a:rPr>
              <a:t>Sin datos de costos</a:t>
            </a:r>
            <a:endParaRPr lang="en-US" sz="1500" dirty="0"/>
          </a:p>
        </p:txBody>
      </p:sp>
      <p:sp>
        <p:nvSpPr>
          <p:cNvPr id="8" name="Text 6"/>
          <p:cNvSpPr txBox="1"/>
          <p:nvPr/>
        </p:nvSpPr>
        <p:spPr>
          <a:xfrm>
            <a:off x="4937760" y="1554480"/>
            <a:ext cx="3566160" cy="685800"/>
          </a:xfrm>
          <a:prstGeom prst="rect">
            <a:avLst/>
          </a:prstGeom>
          <a:noFill/>
          <a:ln/>
        </p:spPr>
        <p:txBody>
          <a:bodyPr wrap="square" lIns="0" tIns="0" rIns="0" bIns="0" rtlCol="0" anchor="t"/>
          <a:lstStyle/>
          <a:p>
            <a:pPr marL="0" indent="0">
              <a:buNone/>
            </a:pPr>
            <a:r>
              <a:rPr lang="en-US" sz="1250" dirty="0">
                <a:solidFill>
                  <a:schemeClr val="tx1"/>
                </a:solidFill>
              </a:rPr>
              <a:t>La recomendación supone que perder un cliente cuesta más que contactarlo; falta validarlo.</a:t>
            </a:r>
            <a:endParaRPr lang="en-US" sz="1250" dirty="0"/>
          </a:p>
        </p:txBody>
      </p:sp>
      <p:sp>
        <p:nvSpPr>
          <p:cNvPr id="9" name="limitacion_2"/>
          <p:cNvSpPr/>
          <p:nvPr/>
        </p:nvSpPr>
        <p:spPr>
          <a:xfrm>
            <a:off x="457200" y="2468880"/>
            <a:ext cx="3977640" cy="1234440"/>
          </a:xfrm>
          <a:prstGeom prst="roundRect">
            <a:avLst>
              <a:gd name="adj" fmla="val 5926"/>
            </a:avLst>
          </a:prstGeom>
          <a:solidFill>
            <a:schemeClr val="bg2"/>
          </a:solidFill>
          <a:ln w="12700">
            <a:solidFill>
              <a:schemeClr val="bg2"/>
            </a:solidFill>
            <a:prstDash val="solid"/>
          </a:ln>
        </p:spPr>
        <p:txBody>
          <a:bodyPr/>
          <a:lstStyle/>
          <a:p>
            <a:endParaRPr lang="es-MX"/>
          </a:p>
        </p:txBody>
      </p:sp>
      <p:sp>
        <p:nvSpPr>
          <p:cNvPr id="10" name="Text 8"/>
          <p:cNvSpPr txBox="1"/>
          <p:nvPr/>
        </p:nvSpPr>
        <p:spPr>
          <a:xfrm>
            <a:off x="685800" y="2606040"/>
            <a:ext cx="3566160" cy="320040"/>
          </a:xfrm>
          <a:prstGeom prst="rect">
            <a:avLst/>
          </a:prstGeom>
          <a:noFill/>
          <a:ln/>
        </p:spPr>
        <p:txBody>
          <a:bodyPr wrap="square" lIns="0" tIns="0" rIns="0" bIns="0" rtlCol="0" anchor="t"/>
          <a:lstStyle/>
          <a:p>
            <a:pPr marL="0" indent="0">
              <a:buNone/>
            </a:pPr>
            <a:r>
              <a:rPr lang="en-US" sz="1500" b="1" dirty="0">
                <a:solidFill>
                  <a:schemeClr val="tx2"/>
                </a:solidFill>
              </a:rPr>
              <a:t>Momento de la medición</a:t>
            </a:r>
            <a:endParaRPr lang="en-US" sz="1500" dirty="0"/>
          </a:p>
        </p:txBody>
      </p:sp>
      <p:sp>
        <p:nvSpPr>
          <p:cNvPr id="11" name="Text 9"/>
          <p:cNvSpPr txBox="1"/>
          <p:nvPr/>
        </p:nvSpPr>
        <p:spPr>
          <a:xfrm>
            <a:off x="685800" y="2971800"/>
            <a:ext cx="3566160" cy="685800"/>
          </a:xfrm>
          <a:prstGeom prst="rect">
            <a:avLst/>
          </a:prstGeom>
          <a:noFill/>
          <a:ln/>
        </p:spPr>
        <p:txBody>
          <a:bodyPr wrap="square" lIns="0" tIns="0" rIns="0" bIns="0" rtlCol="0" anchor="t"/>
          <a:lstStyle/>
          <a:p>
            <a:pPr marL="0" indent="0">
              <a:buNone/>
            </a:pPr>
            <a:r>
              <a:rPr lang="en-US" sz="1250" dirty="0">
                <a:solidFill>
                  <a:schemeClr val="tx1"/>
                </a:solidFill>
              </a:rPr>
              <a:t>En Telco, tenure y los cargos se registran al darse de baja, lo que podría inflar el desempeño.</a:t>
            </a:r>
            <a:endParaRPr lang="en-US" sz="1250" dirty="0"/>
          </a:p>
        </p:txBody>
      </p:sp>
      <p:sp>
        <p:nvSpPr>
          <p:cNvPr id="12" name="limitacion_3"/>
          <p:cNvSpPr/>
          <p:nvPr/>
        </p:nvSpPr>
        <p:spPr>
          <a:xfrm>
            <a:off x="4709160" y="2468880"/>
            <a:ext cx="3977640" cy="1234440"/>
          </a:xfrm>
          <a:prstGeom prst="roundRect">
            <a:avLst>
              <a:gd name="adj" fmla="val 5926"/>
            </a:avLst>
          </a:prstGeom>
          <a:solidFill>
            <a:schemeClr val="bg2"/>
          </a:solidFill>
          <a:ln w="12700">
            <a:solidFill>
              <a:schemeClr val="bg2"/>
            </a:solidFill>
            <a:prstDash val="solid"/>
          </a:ln>
        </p:spPr>
        <p:txBody>
          <a:bodyPr/>
          <a:lstStyle/>
          <a:p>
            <a:endParaRPr lang="es-MX"/>
          </a:p>
        </p:txBody>
      </p:sp>
      <p:sp>
        <p:nvSpPr>
          <p:cNvPr id="13" name="Text 11"/>
          <p:cNvSpPr txBox="1"/>
          <p:nvPr/>
        </p:nvSpPr>
        <p:spPr>
          <a:xfrm>
            <a:off x="4937760" y="2606040"/>
            <a:ext cx="3566160" cy="320040"/>
          </a:xfrm>
          <a:prstGeom prst="rect">
            <a:avLst/>
          </a:prstGeom>
          <a:noFill/>
          <a:ln/>
        </p:spPr>
        <p:txBody>
          <a:bodyPr wrap="square" lIns="0" tIns="0" rIns="0" bIns="0" rtlCol="0" anchor="t"/>
          <a:lstStyle/>
          <a:p>
            <a:pPr marL="0" indent="0">
              <a:buNone/>
            </a:pPr>
            <a:r>
              <a:rPr lang="en-US" sz="1500" b="1" dirty="0">
                <a:solidFill>
                  <a:schemeClr val="tx2"/>
                </a:solidFill>
              </a:rPr>
              <a:t>Sesgos y ética</a:t>
            </a:r>
            <a:endParaRPr lang="en-US" sz="1500" dirty="0"/>
          </a:p>
        </p:txBody>
      </p:sp>
      <p:sp>
        <p:nvSpPr>
          <p:cNvPr id="14" name="Text 12"/>
          <p:cNvSpPr txBox="1"/>
          <p:nvPr/>
        </p:nvSpPr>
        <p:spPr>
          <a:xfrm>
            <a:off x="4937760" y="2971800"/>
            <a:ext cx="3566160" cy="685800"/>
          </a:xfrm>
          <a:prstGeom prst="rect">
            <a:avLst/>
          </a:prstGeom>
          <a:noFill/>
          <a:ln/>
        </p:spPr>
        <p:txBody>
          <a:bodyPr wrap="square" lIns="0" tIns="0" rIns="0" bIns="0" rtlCol="0" anchor="t"/>
          <a:lstStyle/>
          <a:p>
            <a:pPr marL="0" indent="0">
              <a:buNone/>
            </a:pPr>
            <a:r>
              <a:rPr lang="en-US" sz="1250" dirty="0">
                <a:solidFill>
                  <a:schemeClr val="tx1"/>
                </a:solidFill>
              </a:rPr>
              <a:t>Titanic refleja sesgos de sexo y clase; en Telco, gender y SeniorCitizen son atributos sensibles.</a:t>
            </a:r>
            <a:endParaRPr lang="en-US" sz="1250" dirty="0"/>
          </a:p>
        </p:txBody>
      </p:sp>
      <p:sp>
        <p:nvSpPr>
          <p:cNvPr id="15" name="Text 13"/>
          <p:cNvSpPr txBox="1"/>
          <p:nvPr/>
        </p:nvSpPr>
        <p:spPr>
          <a:xfrm>
            <a:off x="457200" y="3977640"/>
            <a:ext cx="8229600" cy="548640"/>
          </a:xfrm>
          <a:prstGeom prst="rect">
            <a:avLst/>
          </a:prstGeom>
          <a:noFill/>
          <a:ln/>
        </p:spPr>
        <p:txBody>
          <a:bodyPr wrap="square" lIns="0" tIns="0" rIns="0" bIns="0" rtlCol="0" anchor="t"/>
          <a:lstStyle/>
          <a:p>
            <a:pPr marL="0" indent="0">
              <a:buNone/>
            </a:pPr>
            <a:r>
              <a:rPr lang="en-US" sz="1100" i="1" dirty="0">
                <a:solidFill>
                  <a:schemeClr val="accent6"/>
                </a:solidFill>
              </a:rPr>
              <a:t>Apoyo de IA: se utilizó Claude (Anthropic) como herramienta de apoyo para </a:t>
            </a:r>
            <a:r>
              <a:rPr lang="en-US" sz="1100" i="1" dirty="0" err="1">
                <a:solidFill>
                  <a:schemeClr val="accent6"/>
                </a:solidFill>
              </a:rPr>
              <a:t>generar</a:t>
            </a:r>
            <a:r>
              <a:rPr lang="en-US" sz="1100" i="1" dirty="0">
                <a:solidFill>
                  <a:schemeClr val="accent6"/>
                </a:solidFill>
              </a:rPr>
              <a:t> ideas, interpretar resultados y revisar el </a:t>
            </a:r>
            <a:r>
              <a:rPr lang="en-US" sz="1100" i="1" dirty="0" err="1">
                <a:solidFill>
                  <a:schemeClr val="accent6"/>
                </a:solidFill>
              </a:rPr>
              <a:t>trabajo</a:t>
            </a:r>
            <a:r>
              <a:rPr lang="en-US" sz="1100" i="1" dirty="0">
                <a:solidFill>
                  <a:schemeClr val="accent6"/>
                </a:solidFill>
              </a:rPr>
              <a:t>.</a:t>
            </a:r>
            <a:endParaRPr lang="en-US" sz="1100" dirty="0"/>
          </a:p>
        </p:txBody>
      </p:sp>
      <p:sp>
        <p:nvSpPr>
          <p:cNvPr id="25" name="Slide Number Placeholder 0"/>
          <p:cNvSpPr>
            <a:spLocks noGrp="1"/>
          </p:cNvSpPr>
          <p:nvPr>
            <p:ph type="sldNum" sz="quarter" idx="4294967295"/>
          </p:nvPr>
        </p:nvSpPr>
        <p:spPr>
          <a:xfrm>
            <a:off x="8412480" y="4773168"/>
            <a:ext cx="365760" cy="22860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C757D"/>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097280"/>
            <a:ext cx="8046720" cy="1371600"/>
          </a:xfrm>
          <a:prstGeom prst="rect">
            <a:avLst/>
          </a:prstGeom>
          <a:noFill/>
          <a:ln/>
        </p:spPr>
        <p:txBody>
          <a:bodyPr wrap="square" lIns="0" tIns="0" rIns="0" bIns="0" rtlCol="0" anchor="b"/>
          <a:lstStyle/>
          <a:p>
            <a:pPr marL="0" indent="0" algn="l">
              <a:buNone/>
            </a:pPr>
            <a:r>
              <a:rPr lang="en-US" sz="3800" b="1" dirty="0">
                <a:solidFill>
                  <a:schemeClr val="bg1"/>
                </a:solidFill>
                <a:latin typeface="Cambria" pitchFamily="34" charset="0"/>
                <a:ea typeface="Cambria" pitchFamily="34" charset="-122"/>
                <a:cs typeface="Cambria" pitchFamily="34" charset="-120"/>
              </a:rPr>
              <a:t>Gracias.</a:t>
            </a:r>
            <a:endParaRPr lang="en-US" sz="3800" dirty="0"/>
          </a:p>
        </p:txBody>
      </p:sp>
      <p:sp>
        <p:nvSpPr>
          <p:cNvPr id="3" name="Text 0"/>
          <p:cNvSpPr>
            <a:spLocks noGrp="1"/>
          </p:cNvSpPr>
          <p:nvPr>
            <p:ph type="body" idx="101" hasCustomPrompt="1"/>
          </p:nvPr>
        </p:nvSpPr>
        <p:spPr>
          <a:xfrm>
            <a:off x="548640" y="2651760"/>
            <a:ext cx="8046720" cy="2011680"/>
          </a:xfrm>
          <a:prstGeom prst="rect">
            <a:avLst/>
          </a:prstGeom>
          <a:noFill/>
          <a:ln/>
        </p:spPr>
        <p:txBody>
          <a:bodyPr wrap="square" lIns="0" tIns="0" rIns="0" bIns="0" rtlCol="0" anchor="t"/>
          <a:lstStyle/>
          <a:p>
            <a:pPr marL="0" indent="0" algn="l">
              <a:buNone/>
            </a:pPr>
            <a:r>
              <a:rPr lang="en-US" sz="1600" dirty="0">
                <a:solidFill>
                  <a:schemeClr val="bg2"/>
                </a:solidFill>
                <a:latin typeface="Calibri" pitchFamily="34" charset="0"/>
                <a:ea typeface="Calibri" pitchFamily="34" charset="-122"/>
                <a:cs typeface="Calibri" pitchFamily="34" charset="-120"/>
              </a:rPr>
              <a:t>Repositorio: github.com/davilabrayan688-gif/Practica2-EDA</a:t>
            </a:r>
            <a:endParaRPr lang="en-US" sz="1600" dirty="0"/>
          </a:p>
          <a:p>
            <a:pPr marL="0" indent="0" algn="l">
              <a:buNone/>
            </a:pPr>
            <a:endParaRPr lang="en-US" sz="1600" dirty="0"/>
          </a:p>
        </p:txBody>
      </p:sp>
    </p:spTree>
  </p:cSld>
  <p:clrMapOvr>
    <a:masterClrMapping/>
  </p:clrMapOvr>
</p:sld>
</file>

<file path=ppt/theme/theme1.xml><?xml version="1.0" encoding="utf-8"?>
<a:theme xmlns:a="http://schemas.openxmlformats.org/drawingml/2006/main" name="Practica2 EDA">
  <a:themeElements>
    <a:clrScheme name="Practica2 EDA">
      <a:dk1>
        <a:srgbClr val="1B1F24"/>
      </a:dk1>
      <a:lt1>
        <a:srgbClr val="FFFFFF"/>
      </a:lt1>
      <a:dk2>
        <a:srgbClr val="1F3A5F"/>
      </a:dk2>
      <a:lt2>
        <a:srgbClr val="EEF2F7"/>
      </a:lt2>
      <a:accent1>
        <a:srgbClr val="1F3A5F"/>
      </a:accent1>
      <a:accent2>
        <a:srgbClr val="2A9D8F"/>
      </a:accent2>
      <a:accent3>
        <a:srgbClr val="E76F51"/>
      </a:accent3>
      <a:accent4>
        <a:srgbClr val="8AA1B9"/>
      </a:accent4>
      <a:accent5>
        <a:srgbClr val="F4A261"/>
      </a:accent5>
      <a:accent6>
        <a:srgbClr val="6C757D"/>
      </a:accent6>
      <a:hlink>
        <a:srgbClr val="2A9D8F"/>
      </a:hlink>
      <a:folHlink>
        <a:srgbClr val="6C757D"/>
      </a:folHlink>
    </a:clrScheme>
    <a:fontScheme name="Practica2 ED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2492</Words>
  <Application>Microsoft Office PowerPoint</Application>
  <PresentationFormat>Presentación en pantalla (16:9)</PresentationFormat>
  <Paragraphs>268</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Practica2 EDA</vt:lpstr>
      <vt:lpstr>Análisis exploratorio y preparación de datos: Titanic y Telco Customer Churn</vt:lpstr>
      <vt:lpstr>¿Qué problema resolvimos?</vt:lpstr>
      <vt:lpstr>Dos datasets con problemas distintos</vt:lpstr>
      <vt:lpstr>Cómo lo hicimos</vt:lpstr>
      <vt:lpstr>Data profiling: qué encontramos</vt:lpstr>
      <vt:lpstr>Titanic: sexo y clase explican la supervivencia</vt:lpstr>
      <vt:lpstr>Telco: el contrato mensual concentra el abandono</vt:lpstr>
      <vt:lpstr>Imputación: elegimos mediana + "Desconocido"</vt:lpstr>
      <vt:lpstr>Winsorización de Fare: percentiles 1 y 99</vt:lpstr>
      <vt:lpstr>Balanceo: el recall sube de 0.54 a ~0.80 en Telco</vt:lpstr>
      <vt:lpstr>Evaluación final en el conjunto de prueba</vt:lpstr>
      <vt:lpstr>Conclusiones y recomendación</vt:lpstr>
      <vt:lpstr>Limitaciones</vt:lpstr>
      <vt:lpstr>Gracias.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Práctica 2. EDA y preparación de datasets</dc:title>
  <dc:subject>PptxGenJS Presentation</dc:subject>
  <dc:creator>Dávila, Hernández, Martínez, Pallares</dc:creator>
  <cp:lastModifiedBy>Diego Raymundo Hernandez Alonso</cp:lastModifiedBy>
  <cp:revision>2</cp:revision>
  <dcterms:created xsi:type="dcterms:W3CDTF">2026-10-15T19:02:34Z</dcterms:created>
  <dcterms:modified xsi:type="dcterms:W3CDTF">2026-10-15T19:09:24Z</dcterms:modified>
</cp:coreProperties>
</file>