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icio" id="{26ddf56a-39ce-2f37-aac4-5547833df111}">
          <p14:sldIdLst>
            <p14:sldId id="256"/>
          </p14:sldIdLst>
        </p14:section>
        <p14:section name="Planteamiento" id="{96d9a5a3-b2b9-4a97-2e0d-254b10edd513}">
          <p14:sldIdLst>
            <p14:sldId id="257"/>
          </p14:sldIdLst>
        </p14:section>
        <p14:section name="EDA" id="{e809f08a-58ab-8f4a-9d92-d2dc8f7c620c}">
          <p14:sldIdLst>
            <p14:sldId id="258"/>
          </p14:sldIdLst>
        </p14:section>
        <p14:section name="Preparación" id="{f6567fa0-5cff-f4f2-59c8-5de359c7b975}">
          <p14:sldIdLst>
            <p14:sldId id="259"/>
            <p14:sldId id="260"/>
          </p14:sldIdLst>
        </p14:section>
        <p14:section name="Balanceo" id="{12d0178d-ade7-a06b-d99f-70d5409d47d4}">
          <p14:sldIdLst>
            <p14:sldId id="261"/>
          </p14:sldIdLst>
        </p14:section>
        <p14:section name="Cierre" id="{ee6d9af8-c850-58ab-ca6b-b2585217cabc}">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4"/>
                </a:solidFill>
                <a:latin typeface="+mn-lt"/>
              </a:defRPr>
            </a:pPr>
            <a:r>
              <a:rPr sz="1300" b="0" i="0" u="none" strike="noStrike">
                <a:solidFill>
                  <a:srgbClr val="1B1F24"/>
                </a:solidFill>
                <a:latin typeface="+mn-lt"/>
              </a:rPr>
              <a:t>Tasa de abandono por tipo de contrato (Telco)</a:t>
            </a:r>
          </a:p>
        </c:rich>
      </c:tx>
      <c:layout/>
      <c:overlay val="0"/>
    </c:title>
    <c:autoTitleDeleted val="0"/>
    <c:plotArea>
      <c:layout/>
      <c:barChart>
        <c:barDir val="col"/>
        <c:grouping val="clustered"/>
        <c:varyColors val="0"/>
        <c:ser>
          <c:idx val="0"/>
          <c:order val="0"/>
          <c:tx>
            <c:strRef>
              <c:f>Sheet1!$B$1</c:f>
              <c:strCache>
                <c:ptCount val="1"/>
                <c:pt idx="0">
                  <c:v>% de abandono</c:v>
                </c:pt>
              </c:strCache>
            </c:strRef>
          </c:tx>
          <c:spPr>
            <a:solidFill>
              <a:srgbClr val="E76F51"/>
            </a:solidFill>
            <a:effectLst/>
          </c:spPr>
          <c:invertIfNegative val="0"/>
          <c:dLbls>
            <c:numFmt formatCode="0.0&quot;%&quot;" sourceLinked="0"/>
            <c:txPr>
              <a:bodyPr/>
              <a:lstStyle/>
              <a:p>
                <a:pPr>
                  <a:defRPr b="0" i="0" strike="noStrike" sz="1200" u="none">
                    <a:solidFill>
                      <a:srgbClr val="1B1F24"/>
                    </a:solidFill>
                    <a:latin typeface="+mn-lt"/>
                  </a:defRPr>
                </a:pPr>
              </a:p>
            </c:txPr>
            <c:showLegendKey val="0"/>
            <c:showVal val="1"/>
            <c:showCatName val="0"/>
            <c:showSerName val="0"/>
            <c:showPercent val="0"/>
            <c:showBubbleSize val="0"/>
            <c:showLeaderLines val="0"/>
          </c:dLbls>
          <c:cat>
            <c:multiLvlStrRef>
              <c:f>Sheet1!$A$2:$A$4</c:f>
              <c:multiLvlStrCache>
                <c:ptCount val="3"/>
                <c:lvl>
                  <c:pt idx="0">
                    <c:v>Mensual</c:v>
                  </c:pt>
                  <c:pt idx="1">
                    <c:v>Un año</c:v>
                  </c:pt>
                  <c:pt idx="2">
                    <c:v>Dos años</c:v>
                  </c:pt>
                </c:lvl>
              </c:multiLvlStrCache>
            </c:multiLvlStrRef>
          </c:cat>
          <c:val>
            <c:numRef>
              <c:f>Sheet1!$B$2:$B$4</c:f>
              <c:numCache>
                <c:formatCode>General</c:formatCode>
                <c:ptCount val="3"/>
                <c:pt idx="0">
                  <c:v>42.7</c:v>
                </c:pt>
                <c:pt idx="1">
                  <c:v>11.3</c:v>
                </c:pt>
                <c:pt idx="2">
                  <c:v>2.8</c:v>
                </c:pt>
              </c:numCache>
            </c:numRef>
          </c:val>
        </c:ser>
        <c:dLbls>
          <c:numFmt formatCode="0.0&quot;%&quot;" sourceLinked="0"/>
          <c:txPr>
            <a:bodyPr/>
            <a:lstStyle/>
            <a:p>
              <a:pPr>
                <a:defRPr b="0" i="0" strike="noStrike" sz="1200" u="none">
                  <a:solidFill>
                    <a:srgbClr val="1B1F2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1F24"/>
                </a:solidFill>
                <a:latin typeface="+mn-lt"/>
              </a:defRPr>
            </a:pPr>
            <a:endParaRPr lang="en-US"/>
          </a:p>
        </c:txPr>
        <c:crossAx val="2094734552"/>
        <c:crosses val="autoZero"/>
        <c:auto val="1"/>
        <c:lblAlgn val="ctr"/>
        <c:noMultiLvlLbl val="1"/>
      </c:catAx>
      <c:valAx>
        <c:axId val="2094734552"/>
        <c:scaling>
          <c:orientation val="minMax"/>
          <c:max val="50"/>
        </c:scaling>
        <c:delete val="0"/>
        <c:axPos val="l"/>
        <c:majorGridlines>
          <c:spPr>
            <a:ln w="6350" cap="flat">
              <a:solidFill>
                <a:srgbClr val="DD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C757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4"/>
                </a:solidFill>
                <a:latin typeface="+mn-lt"/>
              </a:defRPr>
            </a:pPr>
            <a:r>
              <a:rPr sz="1300" b="0" i="0" u="none" strike="noStrike">
                <a:solidFill>
                  <a:srgbClr val="1B1F24"/>
                </a:solidFill>
                <a:latin typeface="+mn-lt"/>
              </a:rPr>
              <a:t>Validación cruzada (5 folds), clase "abandona"</a:t>
            </a:r>
          </a:p>
        </c:rich>
      </c:tx>
      <c:layout/>
      <c:overlay val="0"/>
    </c:title>
    <c:autoTitleDeleted val="0"/>
    <c:plotArea>
      <c:layout/>
      <c:barChart>
        <c:barDir val="col"/>
        <c:grouping val="clustered"/>
        <c:varyColors val="0"/>
        <c:ser>
          <c:idx val="0"/>
          <c:order val="0"/>
          <c:tx>
            <c:strRef>
              <c:f>Sheet1!$B$1</c:f>
              <c:strCache>
                <c:ptCount val="1"/>
                <c:pt idx="0">
                  <c:v>Recall</c:v>
                </c:pt>
              </c:strCache>
            </c:strRef>
          </c:tx>
          <c:spPr>
            <a:solidFill>
              <a:srgbClr val="E76F51"/>
            </a:solidFill>
            <a:effectLst/>
          </c:spPr>
          <c:invertIfNegative val="0"/>
          <c:dLbls>
            <c:numFmt formatCode="0.00" sourceLinked="0"/>
            <c:txPr>
              <a:bodyPr/>
              <a:lstStyle/>
              <a:p>
                <a:pPr>
                  <a:defRPr b="0" i="0" strike="noStrike" sz="800" u="none">
                    <a:solidFill>
                      <a:srgbClr val="1B1F24"/>
                    </a:solidFill>
                    <a:latin typeface="+mn-lt"/>
                  </a:defRPr>
                </a:pPr>
              </a:p>
            </c:txPr>
            <c:showLegendKey val="0"/>
            <c:showVal val="1"/>
            <c:showCatName val="0"/>
            <c:showSerName val="0"/>
            <c:showPercent val="0"/>
            <c:showBubbleSize val="0"/>
            <c:showLeaderLines val="0"/>
          </c:dLbls>
          <c:cat>
            <c:multiLvlStrRef>
              <c:f>Sheet1!$A$2:$A$6</c:f>
              <c:multiLvlStrCache>
                <c:ptCount val="5"/>
                <c:lvl>
                  <c:pt idx="0">
                    <c:v>Sin balanceo</c:v>
                  </c:pt>
                  <c:pt idx="1">
                    <c:v>Ponderación</c:v>
                  </c:pt>
                  <c:pt idx="2">
                    <c:v>Sobremuestreo</c:v>
                  </c:pt>
                  <c:pt idx="3">
                    <c:v>Submuestreo</c:v>
                  </c:pt>
                  <c:pt idx="4">
                    <c:v>SMOTE</c:v>
                  </c:pt>
                </c:lvl>
              </c:multiLvlStrCache>
            </c:multiLvlStrRef>
          </c:cat>
          <c:val>
            <c:numRef>
              <c:f>Sheet1!$B$2:$B$6</c:f>
              <c:numCache>
                <c:formatCode>General</c:formatCode>
                <c:ptCount val="5"/>
                <c:pt idx="0">
                  <c:v>0.542</c:v>
                </c:pt>
                <c:pt idx="1">
                  <c:v>0.803</c:v>
                </c:pt>
                <c:pt idx="2">
                  <c:v>0.802</c:v>
                </c:pt>
                <c:pt idx="3">
                  <c:v>0.8</c:v>
                </c:pt>
                <c:pt idx="4">
                  <c:v>0.791</c:v>
                </c:pt>
              </c:numCache>
            </c:numRef>
          </c:val>
        </c:ser>
        <c:ser>
          <c:idx val="1"/>
          <c:order val="1"/>
          <c:tx>
            <c:strRef>
              <c:f>Sheet1!$C$1</c:f>
              <c:strCache>
                <c:ptCount val="1"/>
                <c:pt idx="0">
                  <c:v>Precision</c:v>
                </c:pt>
              </c:strCache>
            </c:strRef>
          </c:tx>
          <c:spPr>
            <a:solidFill>
              <a:srgbClr val="8AA1B9"/>
            </a:solidFill>
            <a:effectLst/>
          </c:spPr>
          <c:invertIfNegative val="0"/>
          <c:dLbls>
            <c:numFmt formatCode="0.00" sourceLinked="0"/>
            <c:txPr>
              <a:bodyPr/>
              <a:lstStyle/>
              <a:p>
                <a:pPr>
                  <a:defRPr b="0" i="0" strike="noStrike" sz="800" u="none">
                    <a:solidFill>
                      <a:srgbClr val="1B1F24"/>
                    </a:solidFill>
                    <a:latin typeface="+mn-lt"/>
                  </a:defRPr>
                </a:pPr>
              </a:p>
            </c:txPr>
            <c:showLegendKey val="0"/>
            <c:showVal val="1"/>
            <c:showCatName val="0"/>
            <c:showSerName val="0"/>
            <c:showPercent val="0"/>
            <c:showBubbleSize val="0"/>
            <c:showLeaderLines val="0"/>
          </c:dLbls>
          <c:cat>
            <c:multiLvlStrRef>
              <c:f>Sheet1!$A$2:$A$6</c:f>
              <c:multiLvlStrCache>
                <c:ptCount val="5"/>
                <c:lvl>
                  <c:pt idx="0">
                    <c:v>Sin balanceo</c:v>
                  </c:pt>
                  <c:pt idx="1">
                    <c:v>Ponderación</c:v>
                  </c:pt>
                  <c:pt idx="2">
                    <c:v>Sobremuestreo</c:v>
                  </c:pt>
                  <c:pt idx="3">
                    <c:v>Submuestreo</c:v>
                  </c:pt>
                  <c:pt idx="4">
                    <c:v>SMOTE</c:v>
                  </c:pt>
                </c:lvl>
              </c:multiLvlStrCache>
            </c:multiLvlStrRef>
          </c:cat>
          <c:val>
            <c:numRef>
              <c:f>Sheet1!$C$2:$C$6</c:f>
              <c:numCache>
                <c:formatCode>General</c:formatCode>
                <c:ptCount val="5"/>
                <c:pt idx="0">
                  <c:v>0.653</c:v>
                </c:pt>
                <c:pt idx="1">
                  <c:v>0.518</c:v>
                </c:pt>
                <c:pt idx="2">
                  <c:v>0.516</c:v>
                </c:pt>
                <c:pt idx="3">
                  <c:v>0.514</c:v>
                </c:pt>
                <c:pt idx="4">
                  <c:v>0.528</c:v>
                </c:pt>
              </c:numCache>
            </c:numRef>
          </c:val>
        </c:ser>
        <c:ser>
          <c:idx val="2"/>
          <c:order val="2"/>
          <c:tx>
            <c:strRef>
              <c:f>Sheet1!$D$1</c:f>
              <c:strCache>
                <c:ptCount val="1"/>
                <c:pt idx="0">
                  <c:v>F1</c:v>
                </c:pt>
              </c:strCache>
            </c:strRef>
          </c:tx>
          <c:spPr>
            <a:solidFill>
              <a:srgbClr val="1F3A5F"/>
            </a:solidFill>
            <a:effectLst/>
          </c:spPr>
          <c:invertIfNegative val="0"/>
          <c:dLbls>
            <c:numFmt formatCode="0.00" sourceLinked="0"/>
            <c:txPr>
              <a:bodyPr/>
              <a:lstStyle/>
              <a:p>
                <a:pPr>
                  <a:defRPr b="0" i="0" strike="noStrike" sz="800" u="none">
                    <a:solidFill>
                      <a:srgbClr val="1B1F24"/>
                    </a:solidFill>
                    <a:latin typeface="+mn-lt"/>
                  </a:defRPr>
                </a:pPr>
              </a:p>
            </c:txPr>
            <c:showLegendKey val="0"/>
            <c:showVal val="1"/>
            <c:showCatName val="0"/>
            <c:showSerName val="0"/>
            <c:showPercent val="0"/>
            <c:showBubbleSize val="0"/>
            <c:showLeaderLines val="0"/>
          </c:dLbls>
          <c:cat>
            <c:multiLvlStrRef>
              <c:f>Sheet1!$A$2:$A$6</c:f>
              <c:multiLvlStrCache>
                <c:ptCount val="5"/>
                <c:lvl>
                  <c:pt idx="0">
                    <c:v>Sin balanceo</c:v>
                  </c:pt>
                  <c:pt idx="1">
                    <c:v>Ponderación</c:v>
                  </c:pt>
                  <c:pt idx="2">
                    <c:v>Sobremuestreo</c:v>
                  </c:pt>
                  <c:pt idx="3">
                    <c:v>Submuestreo</c:v>
                  </c:pt>
                  <c:pt idx="4">
                    <c:v>SMOTE</c:v>
                  </c:pt>
                </c:lvl>
              </c:multiLvlStrCache>
            </c:multiLvlStrRef>
          </c:cat>
          <c:val>
            <c:numRef>
              <c:f>Sheet1!$D$2:$D$6</c:f>
              <c:numCache>
                <c:formatCode>General</c:formatCode>
                <c:ptCount val="5"/>
                <c:pt idx="0">
                  <c:v>0.592</c:v>
                </c:pt>
                <c:pt idx="1">
                  <c:v>0.629</c:v>
                </c:pt>
                <c:pt idx="2">
                  <c:v>0.628</c:v>
                </c:pt>
                <c:pt idx="3">
                  <c:v>0.626</c:v>
                </c:pt>
                <c:pt idx="4">
                  <c:v>0.633</c:v>
                </c:pt>
              </c:numCache>
            </c:numRef>
          </c:val>
        </c:ser>
        <c:dLbls>
          <c:numFmt formatCode="0.00" sourceLinked="0"/>
          <c:txPr>
            <a:bodyPr/>
            <a:lstStyle/>
            <a:p>
              <a:pPr>
                <a:defRPr b="0" i="0" strike="noStrike" sz="800" u="none">
                  <a:solidFill>
                    <a:srgbClr val="1B1F2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1F24"/>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D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C757D"/>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B1F24"/>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Presentamos la Práctica 2. Trabajamos con dos datasets de clasificación, Titanic y Telco Customer Churn, y en unos 8 minutos vamos a contar qué problemas de calidad encontramos, qué decisiones de preparación tomamos y cómo afectaron al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objetivo no es tener el mejor modelo, sino diagnosticar los datos y medir el efecto de cada decisión. Titanic: 891 pasajeros, queremos saber si sobrevivió. Telco: 7,043 clientes, queremos saber si se dio de baja. Calculamos la razón de desbalance, clase mayoritaria entre minoritaria: Titanic da 549/342 = 1.61 y Telco 2.77. Los dos superan el umbral de 1.5, Titanic por poco.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hallazgo más claro del EDA: en Telco, 42.7 % de los clientes con contrato mensual se dan de baja, contra 11.3 % a un año y 2.8 % a dos años. También se van más los de fibra óptica y los clientes nuevos: la mediana de antigüedad de quienes se van es 10 meses contra 38. Y un dato que marca todo lo demás: como solo 26.5 % abandona, un modelo que siempre diga 'no abandona' ya tiene 73.5 % de accuracy. Por eso no podemos evaluar solo con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la imputación usamos Age, numérica con 137 nulos en entrenamiento, y Embarked, categórica con 2. Comparamos media + moda contra mediana + 'Desconocido'. En los histogramas se ve el costo: los 137 valores caen en un solo número y se forma un pico; la desviación baja de 14.49 a 13.0. En el modelo no hay diferencia real: F1 de 0.729 contra 0.730, menor que la variación entre folds. Elegimos mediana + 'Desconocido' porque la mediana no se mueve con extremos y no inventamos un puerto. También probamos un indicador de 'edad ausente': la ausencia sí se relaciona con sobrevivir, pero no mejoró el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Fare tiene asimetría de 4.79 y un máximo de 512. Probamos dos criterios con límites calculados solo con entrenamiento. El IQR recorta casi 13 % de las tarifas a 65.66: son tarifas reales de primera clase, no errores, y el F1 baja de 0.730 a 0.713. Los percentiles 1 y 99 solo tocan el 1 % de arriba (el percentil 1 es 0, así que abajo no cambia nada) y el desempeño queda igual. Queremos ser claros: la winsorización no mejoró el modelo. Elegimos percentiles porque reducen la influencia de los extremos sin borrar información. En Telco el IQR no encontró outliers, así que no había nada que winsorizar.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Telco comparamos las cinco estrategias, siempre con la misma partición y aplicando el remuestreo solo al entrenamiento de cada fold. Sin balanceo el modelo es preciso pero solo detecta 54 % de los abandonos. Cualquier técnica sube el recall a cerca de 80 % y la precisión baja a ~0.52; el F1 sube de 0.59 a ~0.63. Entre las cuatro técnicas la diferencia es menor a 0.01, o sea, empate. Y el ROC-AUC no cambia: balancear mueve el umbral, no hace al modelo mejor ordenando clientes. En el conjunto de prueba, la ponderación detecta 86 abandonos más, pero con 180 falsas alarmas extra. En Titanic, con IR de 1.61, probamos lo mismo y el F1 no cambió, así que ahí no balanceamos.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Nuestra recomendación para Telco: mediana para imputar y ponderación de clases, porque rinde igual que las otras técnicas sin duplicar, inventar ni borrar datos, y detecta 78 % de los abandonos frente a 55 %. Si las campañas de retención fueran caras, conviene el modelo sin balanceo o mover el umbral. Limitaciones: usamos un solo modelo, no tenemos costos reales, y en Telco las variables se miden cuando el cliente ya se fue, lo que podría inflar el desempeño. Además, Titanic refleja sesgos históricos y en Telco hay atributos sensibles que habría que auditar. Usamos Claude como herramienta de apoyo para generar ideas y revisar el trabajo; el equipo validó y puede justificar cada decisión.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1F3A5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280160"/>
          </a:xfrm>
          <a:prstGeom prst="rect">
            <a:avLst/>
          </a:prstGeom>
          <a:noFill/>
          <a:ln/>
        </p:spPr>
        <p:txBody>
          <a:bodyPr wrap="square" rtlCol="0"/>
          <a:lstStyle>
            <a:lvl1pPr algn="l" indent="0" marL="0">
              <a:buNone/>
              <a:defRPr lang="en-US" sz="3800" b="1" dirty="0">
                <a:solidFill>
                  <a:schemeClr val="bg1"/>
                </a:solidFill>
                <a:latin typeface="Cambria" pitchFamily="34" charset="0"/>
                <a:ea typeface="Cambria" pitchFamily="34" charset="-122"/>
                <a:cs typeface="Cambria" pitchFamily="34" charset="-120"/>
              </a:defRPr>
            </a:lvl1pPr>
          </a:lstStyle>
          <a:p>
            <a:pPr algn="l" indent="0" marL="0">
              <a:buNone/>
            </a:pPr>
            <a:r>
              <a:rPr lang="en-US" sz="3800" b="1" dirty="0">
                <a:solidFill>
                  <a:schemeClr val="bg1"/>
                </a:solidFill>
                <a:latin typeface="Cambria" pitchFamily="34" charset="0"/>
                <a:ea typeface="Cambria" pitchFamily="34" charset="-122"/>
                <a:cs typeface="Cambria" pitchFamily="34" charset="-120"/>
              </a:rPr>
              <a:t>Título</a:t>
            </a:r>
            <a:endParaRPr lang="en-US" sz="3800" dirty="0"/>
          </a:p>
        </p:txBody>
      </p:sp>
      <p:sp>
        <p:nvSpPr>
          <p:cNvPr id="3" name="Text 0"/>
          <p:cNvSpPr/>
          <p:nvPr>
            <p:ph idx="101" type="body" hasCustomPrompt="1"/>
          </p:nvPr>
        </p:nvSpPr>
        <p:spPr>
          <a:xfrm>
            <a:off x="548640" y="2651760"/>
            <a:ext cx="8046720" cy="1737360"/>
          </a:xfrm>
          <a:prstGeom prst="rect">
            <a:avLst/>
          </a:prstGeom>
          <a:noFill/>
          <a:ln/>
        </p:spPr>
        <p:txBody>
          <a:bodyPr wrap="square" rtlCol="0"/>
          <a:lstStyle>
            <a:lvl1pPr indent="0" marL="0">
              <a:buNone/>
              <a:defRPr lang="en-US" sz="1600" dirty="0">
                <a:solidFill>
                  <a:schemeClr val="bg2"/>
                </a:solidFill>
                <a:latin typeface="Calibri" pitchFamily="34" charset="0"/>
                <a:ea typeface="Calibri" pitchFamily="34" charset="-122"/>
                <a:cs typeface="Calibri" pitchFamily="34" charset="-120"/>
              </a:defRPr>
            </a:lvl1pPr>
          </a:lstStyle>
          <a:p>
            <a:pPr indent="0" marL="0">
              <a:buNone/>
            </a:pPr>
            <a:r>
              <a:rPr lang="en-US" sz="1600" dirty="0">
                <a:solidFill>
                  <a:schemeClr val="bg2"/>
                </a:solidFill>
                <a:latin typeface="Calibri" pitchFamily="34" charset="0"/>
                <a:ea typeface="Calibri" pitchFamily="34" charset="-122"/>
                <a:cs typeface="Calibri" pitchFamily="34" charset="-120"/>
              </a:rPr>
              <a:t>Subtítulo</a:t>
            </a: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28600"/>
          </a:xfrm>
          <a:prstGeom prst="rect">
            <a:avLst/>
          </a:prstGeom>
          <a:noFill/>
          <a:ln/>
        </p:spPr>
        <p:txBody>
          <a:bodyPr wrap="square" lIns="0" tIns="0" rIns="0" bIns="0" rtlCol="0" anchor="ctr"/>
          <a:lstStyle/>
          <a:p>
            <a:pPr indent="0" marL="0">
              <a:buNone/>
            </a:pPr>
            <a:r>
              <a:rPr lang="en-US" sz="1000" dirty="0">
                <a:solidFill>
                  <a:srgbClr val="6C757D"/>
                </a:solidFill>
                <a:latin typeface="Calibri" pitchFamily="34" charset="0"/>
                <a:ea typeface="Calibri" pitchFamily="34" charset="-122"/>
                <a:cs typeface="Calibri" pitchFamily="34" charset="-120"/>
              </a:rPr>
              <a:t>Práctica 2 · EDA y preparación de datasets</a:t>
            </a:r>
            <a:endParaRPr lang="en-US" sz="1000" dirty="0"/>
          </a:p>
        </p:txBody>
      </p:sp>
      <p:sp>
        <p:nvSpPr>
          <p:cNvPr id="3" name="Text 1"/>
          <p:cNvSpPr/>
          <p:nvPr>
            <p:ph idx="101" type="title" hasCustomPrompt="1"/>
          </p:nvPr>
        </p:nvSpPr>
        <p:spPr>
          <a:xfrm>
            <a:off x="457200" y="274320"/>
            <a:ext cx="8229600" cy="68580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r>
              <a:rPr lang="en-US" sz="2800" b="1" dirty="0">
                <a:solidFill>
                  <a:schemeClr val="tx2"/>
                </a:solidFill>
                <a:latin typeface="Cambria" pitchFamily="34" charset="0"/>
                <a:ea typeface="Cambria" pitchFamily="34" charset="-122"/>
                <a:cs typeface="Cambria" pitchFamily="34" charset="-120"/>
              </a:rPr>
              <a:t>Título</a:t>
            </a:r>
            <a:endParaRPr lang="en-US" sz="2800" dirty="0"/>
          </a:p>
        </p:txBody>
      </p:sp>
      <p:sp>
        <p:nvSpPr>
          <p:cNvPr id="25" name="Slide Number Placeholder 0"/>
          <p:cNvSpPr>
            <a:spLocks noGrp="1"/>
          </p:cNvSpPr>
          <p:nvPr>
            <p:ph type="sldNum" sz="quarter" idx="4294967295"/>
          </p:nvPr>
        </p:nvSpPr>
        <p:spPr>
          <a:xfrm>
            <a:off x="8412480" y="4773168"/>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73168"/>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280160"/>
          </a:xfrm>
          <a:prstGeom prst="rect">
            <a:avLst/>
          </a:prstGeom>
          <a:noFill/>
          <a:ln/>
        </p:spPr>
        <p:txBody>
          <a:bodyPr wrap="square" lIns="0" tIns="0" rIns="0" bIns="0"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Práctica 2: EDA y preparación de datasets</a:t>
            </a:r>
            <a:endParaRPr lang="en-US" sz="3800" dirty="0"/>
          </a:p>
        </p:txBody>
      </p:sp>
      <p:sp>
        <p:nvSpPr>
          <p:cNvPr id="3" name="Text 0"/>
          <p:cNvSpPr/>
          <p:nvPr>
            <p:ph idx="101" type="body" hasCustomPrompt="1"/>
          </p:nvPr>
        </p:nvSpPr>
        <p:spPr>
          <a:xfrm>
            <a:off x="548640" y="2651760"/>
            <a:ext cx="8046720" cy="1737360"/>
          </a:xfrm>
          <a:prstGeom prst="rect">
            <a:avLst/>
          </a:prstGeom>
          <a:noFill/>
          <a:ln/>
        </p:spPr>
        <p:txBody>
          <a:bodyPr wrap="square" lIns="0" tIns="0" rIns="0" bIns="0" rtlCol="0" anchor="t"/>
          <a:lstStyle/>
          <a:p>
            <a:pPr indent="0" marL="0">
              <a:buNone/>
            </a:pPr>
            <a:r>
              <a:rPr lang="en-US" sz="1600" b="1" dirty="0">
                <a:solidFill>
                  <a:schemeClr val="bg2"/>
                </a:solidFill>
                <a:latin typeface="Calibri" pitchFamily="34" charset="0"/>
                <a:ea typeface="Calibri" pitchFamily="34" charset="-122"/>
                <a:cs typeface="Calibri" pitchFamily="34" charset="-120"/>
              </a:rPr>
              <a:t>Titanic y Telco Customer Churn</a:t>
            </a:r>
            <a:endParaRPr lang="en-US" sz="1600" dirty="0"/>
          </a:p>
          <a:p>
            <a:pPr indent="0" marL="0">
              <a:buNone/>
            </a:pPr>
            <a:r>
              <a:rPr lang="en-US" sz="1300" dirty="0">
                <a:solidFill>
                  <a:schemeClr val="bg2"/>
                </a:solidFill>
                <a:latin typeface="Calibri" pitchFamily="34" charset="0"/>
                <a:ea typeface="Calibri" pitchFamily="34" charset="-122"/>
                <a:cs typeface="Calibri" pitchFamily="34" charset="-120"/>
              </a:rPr>
              <a:t>Dávila Martínez Brayan · Hernández Alonso Diego Raymundo</a:t>
            </a:r>
            <a:endParaRPr lang="en-US" sz="1600" dirty="0"/>
          </a:p>
          <a:p>
            <a:pPr indent="0" marL="0">
              <a:buNone/>
            </a:pPr>
            <a:r>
              <a:rPr lang="en-US" sz="1300" dirty="0">
                <a:solidFill>
                  <a:schemeClr val="bg2"/>
                </a:solidFill>
                <a:latin typeface="Calibri" pitchFamily="34" charset="0"/>
                <a:ea typeface="Calibri" pitchFamily="34" charset="-122"/>
                <a:cs typeface="Calibri" pitchFamily="34" charset="-120"/>
              </a:rPr>
              <a:t>Martínez Rios Edson Jared · Pallares Hernández Oscar</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Objetivo: preparar los datos antes de clasificar</a:t>
            </a:r>
            <a:endParaRPr lang="en-US" sz="2800" dirty="0"/>
          </a:p>
        </p:txBody>
      </p:sp>
      <p:sp>
        <p:nvSpPr>
          <p:cNvPr id="3" name="Text 1"/>
          <p:cNvSpPr txBox="1"/>
          <p:nvPr/>
        </p:nvSpPr>
        <p:spPr>
          <a:xfrm>
            <a:off x="457200" y="1005840"/>
            <a:ext cx="8229600" cy="548640"/>
          </a:xfrm>
          <a:prstGeom prst="rect">
            <a:avLst/>
          </a:prstGeom>
          <a:noFill/>
          <a:ln/>
        </p:spPr>
        <p:txBody>
          <a:bodyPr wrap="square" lIns="0" tIns="0" rIns="0" bIns="0" rtlCol="0" anchor="ctr"/>
          <a:lstStyle/>
          <a:p>
            <a:pPr indent="0" marL="0">
              <a:buNone/>
            </a:pPr>
            <a:r>
              <a:rPr lang="en-US" sz="1500" dirty="0">
                <a:solidFill>
                  <a:schemeClr val="tx1"/>
                </a:solidFill>
              </a:rPr>
              <a:t>Auditar la calidad de dos datasets, justificar cada decisión de preprocesamiento y medir su efecto en una regresión logística (CV de 5 folds + prueba final).</a:t>
            </a:r>
            <a:endParaRPr lang="en-US" sz="1500" dirty="0"/>
          </a:p>
        </p:txBody>
      </p:sp>
      <p:sp>
        <p:nvSpPr>
          <p:cNvPr id="4" name="tarjeta_0"/>
          <p:cNvSpPr/>
          <p:nvPr/>
        </p:nvSpPr>
        <p:spPr>
          <a:xfrm>
            <a:off x="457200" y="1783080"/>
            <a:ext cx="3977640" cy="2514600"/>
          </a:xfrm>
          <a:prstGeom prst="roundRect">
            <a:avLst>
              <a:gd name="adj" fmla="val 2909"/>
            </a:avLst>
          </a:prstGeom>
          <a:solidFill>
            <a:schemeClr val="bg2"/>
          </a:solidFill>
          <a:ln w="12700">
            <a:solidFill>
              <a:schemeClr val="bg2"/>
            </a:solidFill>
            <a:prstDash val="solid"/>
          </a:ln>
        </p:spPr>
      </p:sp>
      <p:sp>
        <p:nvSpPr>
          <p:cNvPr id="5" name="Text 3"/>
          <p:cNvSpPr txBox="1"/>
          <p:nvPr/>
        </p:nvSpPr>
        <p:spPr>
          <a:xfrm>
            <a:off x="685800" y="1920240"/>
            <a:ext cx="3566160" cy="36576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Titanic</a:t>
            </a:r>
            <a:endParaRPr lang="en-US" sz="1800" dirty="0"/>
          </a:p>
        </p:txBody>
      </p:sp>
      <p:sp>
        <p:nvSpPr>
          <p:cNvPr id="6" name="Text 4"/>
          <p:cNvSpPr txBox="1"/>
          <p:nvPr/>
        </p:nvSpPr>
        <p:spPr>
          <a:xfrm>
            <a:off x="685800" y="2377440"/>
            <a:ext cx="2331720" cy="1828800"/>
          </a:xfrm>
          <a:prstGeom prst="rect">
            <a:avLst/>
          </a:prstGeom>
          <a:noFill/>
          <a:ln/>
        </p:spPr>
        <p:txBody>
          <a:bodyPr wrap="square" lIns="0" tIns="0" rIns="0" bIns="0" rtlCol="0" anchor="t"/>
          <a:lstStyle/>
          <a:p>
            <a:pPr indent="0" marL="0">
              <a:spcAft>
                <a:spcPts val="400"/>
              </a:spcAft>
              <a:buNone/>
            </a:pPr>
            <a:r>
              <a:rPr lang="en-US" sz="1300" b="1" dirty="0">
                <a:solidFill>
                  <a:schemeClr val="tx1"/>
                </a:solidFill>
              </a:rPr>
              <a:t>Dimensión: </a:t>
            </a:r>
            <a:pPr indent="0" marL="0">
              <a:spcAft>
                <a:spcPts val="400"/>
              </a:spcAft>
              <a:buNone/>
            </a:pPr>
            <a:r>
              <a:rPr lang="en-US" sz="1300" dirty="0">
                <a:solidFill>
                  <a:schemeClr val="tx1"/>
                </a:solidFill>
              </a:rPr>
              <a:t>891 x 12</a:t>
            </a:r>
            <a:endParaRPr lang="en-US" sz="1300" dirty="0"/>
          </a:p>
          <a:p>
            <a:pPr indent="0" marL="0">
              <a:spcAft>
                <a:spcPts val="400"/>
              </a:spcAft>
              <a:buNone/>
            </a:pPr>
            <a:r>
              <a:rPr lang="en-US" sz="1300" b="1" dirty="0">
                <a:solidFill>
                  <a:schemeClr val="tx1"/>
                </a:solidFill>
              </a:rPr>
              <a:t>Fila: </a:t>
            </a:r>
            <a:pPr indent="0" marL="0">
              <a:spcAft>
                <a:spcPts val="400"/>
              </a:spcAft>
              <a:buNone/>
            </a:pPr>
            <a:r>
              <a:rPr lang="en-US" sz="1300" dirty="0">
                <a:solidFill>
                  <a:schemeClr val="tx1"/>
                </a:solidFill>
              </a:rPr>
              <a:t>Un pasajero</a:t>
            </a:r>
            <a:endParaRPr lang="en-US" sz="1300" dirty="0"/>
          </a:p>
          <a:p>
            <a:pPr indent="0" marL="0">
              <a:spcAft>
                <a:spcPts val="400"/>
              </a:spcAft>
              <a:buNone/>
            </a:pPr>
            <a:r>
              <a:rPr lang="en-US" sz="1300" b="1" dirty="0">
                <a:solidFill>
                  <a:schemeClr val="tx1"/>
                </a:solidFill>
              </a:rPr>
              <a:t>Objetivo: </a:t>
            </a:r>
            <a:pPr indent="0" marL="0">
              <a:spcAft>
                <a:spcPts val="400"/>
              </a:spcAft>
              <a:buNone/>
            </a:pPr>
            <a:r>
              <a:rPr lang="en-US" sz="1300" dirty="0">
                <a:solidFill>
                  <a:schemeClr val="tx1"/>
                </a:solidFill>
              </a:rPr>
              <a:t>Survived (sobrevivió sí/no)</a:t>
            </a:r>
            <a:endParaRPr lang="en-US" sz="1300" dirty="0"/>
          </a:p>
          <a:p>
            <a:pPr indent="0" marL="0">
              <a:spcAft>
                <a:spcPts val="400"/>
              </a:spcAft>
              <a:buNone/>
            </a:pPr>
            <a:r>
              <a:rPr lang="en-US" sz="1300" b="1" dirty="0">
                <a:solidFill>
                  <a:schemeClr val="tx1"/>
                </a:solidFill>
              </a:rPr>
              <a:t>Problema: </a:t>
            </a:r>
            <a:pPr indent="0" marL="0">
              <a:spcAft>
                <a:spcPts val="400"/>
              </a:spcAft>
              <a:buNone/>
            </a:pPr>
            <a:r>
              <a:rPr lang="en-US" sz="1300" dirty="0">
                <a:solidFill>
                  <a:schemeClr val="tx1"/>
                </a:solidFill>
              </a:rPr>
              <a:t>Age con 19.9 % de nulos, Fare muy asimétrica</a:t>
            </a:r>
            <a:endParaRPr lang="en-US" sz="1300" dirty="0"/>
          </a:p>
        </p:txBody>
      </p:sp>
      <p:sp>
        <p:nvSpPr>
          <p:cNvPr id="7" name="Text 5"/>
          <p:cNvSpPr txBox="1"/>
          <p:nvPr/>
        </p:nvSpPr>
        <p:spPr>
          <a:xfrm>
            <a:off x="3063240" y="2514600"/>
            <a:ext cx="1280160" cy="1188720"/>
          </a:xfrm>
          <a:prstGeom prst="rect">
            <a:avLst/>
          </a:prstGeom>
          <a:noFill/>
          <a:ln/>
        </p:spPr>
        <p:txBody>
          <a:bodyPr wrap="square" lIns="0" tIns="0" rIns="0" bIns="0" rtlCol="0" anchor="ctr"/>
          <a:lstStyle/>
          <a:p>
            <a:pPr algn="ctr" indent="0" marL="0">
              <a:buNone/>
            </a:pPr>
            <a:r>
              <a:rPr lang="en-US" sz="3600" b="1" dirty="0">
                <a:solidFill>
                  <a:schemeClr val="accent3"/>
                </a:solidFill>
              </a:rPr>
              <a:t>1.61</a:t>
            </a:r>
            <a:endParaRPr lang="en-US" sz="3600" dirty="0"/>
          </a:p>
          <a:p>
            <a:pPr algn="ctr" indent="0" marL="0">
              <a:buNone/>
            </a:pPr>
            <a:r>
              <a:rPr lang="en-US" sz="1100" dirty="0">
                <a:solidFill>
                  <a:schemeClr val="tx1"/>
                </a:solidFill>
              </a:rPr>
              <a:t>IR &gt; 1.5: desbalanceado</a:t>
            </a:r>
            <a:endParaRPr lang="en-US" sz="3600" dirty="0"/>
          </a:p>
        </p:txBody>
      </p:sp>
      <p:sp>
        <p:nvSpPr>
          <p:cNvPr id="8" name="tarjeta_1"/>
          <p:cNvSpPr/>
          <p:nvPr/>
        </p:nvSpPr>
        <p:spPr>
          <a:xfrm>
            <a:off x="4709160" y="1783080"/>
            <a:ext cx="3977640" cy="2514600"/>
          </a:xfrm>
          <a:prstGeom prst="roundRect">
            <a:avLst>
              <a:gd name="adj" fmla="val 2909"/>
            </a:avLst>
          </a:prstGeom>
          <a:solidFill>
            <a:schemeClr val="bg2"/>
          </a:solidFill>
          <a:ln w="12700">
            <a:solidFill>
              <a:schemeClr val="bg2"/>
            </a:solidFill>
            <a:prstDash val="solid"/>
          </a:ln>
        </p:spPr>
      </p:sp>
      <p:sp>
        <p:nvSpPr>
          <p:cNvPr id="9" name="Text 7"/>
          <p:cNvSpPr txBox="1"/>
          <p:nvPr/>
        </p:nvSpPr>
        <p:spPr>
          <a:xfrm>
            <a:off x="4937760" y="1920240"/>
            <a:ext cx="3566160" cy="36576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Telco Customer Churn</a:t>
            </a:r>
            <a:endParaRPr lang="en-US" sz="1800" dirty="0"/>
          </a:p>
        </p:txBody>
      </p:sp>
      <p:sp>
        <p:nvSpPr>
          <p:cNvPr id="10" name="Text 8"/>
          <p:cNvSpPr txBox="1"/>
          <p:nvPr/>
        </p:nvSpPr>
        <p:spPr>
          <a:xfrm>
            <a:off x="4937760" y="2377440"/>
            <a:ext cx="2331720" cy="1828800"/>
          </a:xfrm>
          <a:prstGeom prst="rect">
            <a:avLst/>
          </a:prstGeom>
          <a:noFill/>
          <a:ln/>
        </p:spPr>
        <p:txBody>
          <a:bodyPr wrap="square" lIns="0" tIns="0" rIns="0" bIns="0" rtlCol="0" anchor="t"/>
          <a:lstStyle/>
          <a:p>
            <a:pPr indent="0" marL="0">
              <a:spcAft>
                <a:spcPts val="400"/>
              </a:spcAft>
              <a:buNone/>
            </a:pPr>
            <a:r>
              <a:rPr lang="en-US" sz="1300" b="1" dirty="0">
                <a:solidFill>
                  <a:schemeClr val="tx1"/>
                </a:solidFill>
              </a:rPr>
              <a:t>Dimensión: </a:t>
            </a:r>
            <a:pPr indent="0" marL="0">
              <a:spcAft>
                <a:spcPts val="400"/>
              </a:spcAft>
              <a:buNone/>
            </a:pPr>
            <a:r>
              <a:rPr lang="en-US" sz="1300" dirty="0">
                <a:solidFill>
                  <a:schemeClr val="tx1"/>
                </a:solidFill>
              </a:rPr>
              <a:t>7,043 x 21</a:t>
            </a:r>
            <a:endParaRPr lang="en-US" sz="1300" dirty="0"/>
          </a:p>
          <a:p>
            <a:pPr indent="0" marL="0">
              <a:spcAft>
                <a:spcPts val="400"/>
              </a:spcAft>
              <a:buNone/>
            </a:pPr>
            <a:r>
              <a:rPr lang="en-US" sz="1300" b="1" dirty="0">
                <a:solidFill>
                  <a:schemeClr val="tx1"/>
                </a:solidFill>
              </a:rPr>
              <a:t>Fila: </a:t>
            </a:r>
            <a:pPr indent="0" marL="0">
              <a:spcAft>
                <a:spcPts val="400"/>
              </a:spcAft>
              <a:buNone/>
            </a:pPr>
            <a:r>
              <a:rPr lang="en-US" sz="1300" dirty="0">
                <a:solidFill>
                  <a:schemeClr val="tx1"/>
                </a:solidFill>
              </a:rPr>
              <a:t>Un cliente</a:t>
            </a:r>
            <a:endParaRPr lang="en-US" sz="1300" dirty="0"/>
          </a:p>
          <a:p>
            <a:pPr indent="0" marL="0">
              <a:spcAft>
                <a:spcPts val="400"/>
              </a:spcAft>
              <a:buNone/>
            </a:pPr>
            <a:r>
              <a:rPr lang="en-US" sz="1300" b="1" dirty="0">
                <a:solidFill>
                  <a:schemeClr val="tx1"/>
                </a:solidFill>
              </a:rPr>
              <a:t>Objetivo: </a:t>
            </a:r>
            <a:pPr indent="0" marL="0">
              <a:spcAft>
                <a:spcPts val="400"/>
              </a:spcAft>
              <a:buNone/>
            </a:pPr>
            <a:r>
              <a:rPr lang="en-US" sz="1300" dirty="0">
                <a:solidFill>
                  <a:schemeClr val="tx1"/>
                </a:solidFill>
              </a:rPr>
              <a:t>Churn (se dio de baja sí/no)</a:t>
            </a:r>
            <a:endParaRPr lang="en-US" sz="1300" dirty="0"/>
          </a:p>
          <a:p>
            <a:pPr indent="0" marL="0">
              <a:spcAft>
                <a:spcPts val="400"/>
              </a:spcAft>
              <a:buNone/>
            </a:pPr>
            <a:r>
              <a:rPr lang="en-US" sz="1300" b="1" dirty="0">
                <a:solidFill>
                  <a:schemeClr val="tx1"/>
                </a:solidFill>
              </a:rPr>
              <a:t>Problema: </a:t>
            </a:r>
            <a:pPr indent="0" marL="0">
              <a:spcAft>
                <a:spcPts val="400"/>
              </a:spcAft>
              <a:buNone/>
            </a:pPr>
            <a:r>
              <a:rPr lang="en-US" sz="1300" dirty="0">
                <a:solidFill>
                  <a:schemeClr val="tx1"/>
                </a:solidFill>
              </a:rPr>
              <a:t>TotalCharges como texto con 11 vacíos ocultos</a:t>
            </a:r>
            <a:endParaRPr lang="en-US" sz="1300" dirty="0"/>
          </a:p>
        </p:txBody>
      </p:sp>
      <p:sp>
        <p:nvSpPr>
          <p:cNvPr id="11" name="Text 9"/>
          <p:cNvSpPr txBox="1"/>
          <p:nvPr/>
        </p:nvSpPr>
        <p:spPr>
          <a:xfrm>
            <a:off x="7315200" y="2514600"/>
            <a:ext cx="1280160" cy="1188720"/>
          </a:xfrm>
          <a:prstGeom prst="rect">
            <a:avLst/>
          </a:prstGeom>
          <a:noFill/>
          <a:ln/>
        </p:spPr>
        <p:txBody>
          <a:bodyPr wrap="square" lIns="0" tIns="0" rIns="0" bIns="0" rtlCol="0" anchor="ctr"/>
          <a:lstStyle/>
          <a:p>
            <a:pPr algn="ctr" indent="0" marL="0">
              <a:buNone/>
            </a:pPr>
            <a:r>
              <a:rPr lang="en-US" sz="3600" b="1" dirty="0">
                <a:solidFill>
                  <a:schemeClr val="accent3"/>
                </a:solidFill>
              </a:rPr>
              <a:t>2.77</a:t>
            </a:r>
            <a:endParaRPr lang="en-US" sz="3600" dirty="0"/>
          </a:p>
          <a:p>
            <a:pPr algn="ctr" indent="0" marL="0">
              <a:buNone/>
            </a:pPr>
            <a:r>
              <a:rPr lang="en-US" sz="1100" dirty="0">
                <a:solidFill>
                  <a:schemeClr val="tx1"/>
                </a:solidFill>
              </a:rPr>
              <a:t>IR &gt; 1.5: desbalanceado</a:t>
            </a:r>
            <a:endParaRPr lang="en-US" sz="3600" dirty="0"/>
          </a:p>
        </p:txBody>
      </p:sp>
      <p:sp>
        <p:nvSpPr>
          <p:cNvPr id="25" name="Slide Number Placeholder 0"/>
          <p:cNvSpPr>
            <a:spLocks noGrp="1"/>
          </p:cNvSpPr>
          <p:nvPr>
            <p:ph type="sldNum" sz="quarter" idx="4294967295"/>
          </p:nvPr>
        </p:nvSpPr>
        <p:spPr>
          <a:xfrm>
            <a:off x="8412480" y="4773168"/>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El contrato mensual concentra el abandono</a:t>
            </a:r>
            <a:endParaRPr lang="en-US" sz="2800" dirty="0"/>
          </a:p>
        </p:txBody>
      </p:sp>
      <p:graphicFrame>
        <p:nvGraphicFramePr>
          <p:cNvPr id="3" name="grafica_contrato" descr=""/>
          <p:cNvGraphicFramePr/>
          <p:nvPr/>
        </p:nvGraphicFramePr>
        <p:xfrm>
          <a:off x="457200" y="1051560"/>
          <a:ext cx="4937760" cy="3566160"/>
        </p:xfrm>
        <a:graphic xmlns:a="http://schemas.openxmlformats.org/drawingml/2006/main">
          <a:graphicData uri="http://schemas.openxmlformats.org/drawingml/2006/chart">
            <c:chart xmlns:c="http://schemas.openxmlformats.org/drawingml/2006/chart" r:id="rId1"/>
          </a:graphicData>
        </a:graphic>
      </p:graphicFrame>
      <p:sp>
        <p:nvSpPr>
          <p:cNvPr id="4" name="dato_0"/>
          <p:cNvSpPr/>
          <p:nvPr/>
        </p:nvSpPr>
        <p:spPr>
          <a:xfrm>
            <a:off x="5669280" y="1143000"/>
            <a:ext cx="3017520" cy="1005840"/>
          </a:xfrm>
          <a:prstGeom prst="roundRect">
            <a:avLst>
              <a:gd name="adj" fmla="val 7273"/>
            </a:avLst>
          </a:prstGeom>
          <a:solidFill>
            <a:schemeClr val="bg2"/>
          </a:solidFill>
          <a:ln w="12700">
            <a:solidFill>
              <a:schemeClr val="bg2"/>
            </a:solidFill>
            <a:prstDash val="solid"/>
          </a:ln>
        </p:spPr>
      </p:sp>
      <p:sp>
        <p:nvSpPr>
          <p:cNvPr id="5" name="Text 2"/>
          <p:cNvSpPr txBox="1"/>
          <p:nvPr/>
        </p:nvSpPr>
        <p:spPr>
          <a:xfrm>
            <a:off x="5852160" y="1216152"/>
            <a:ext cx="2651760" cy="4572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41.9 %</a:t>
            </a:r>
            <a:endParaRPr lang="en-US" sz="2400" dirty="0"/>
          </a:p>
        </p:txBody>
      </p:sp>
      <p:sp>
        <p:nvSpPr>
          <p:cNvPr id="6" name="Text 3"/>
          <p:cNvSpPr txBox="1"/>
          <p:nvPr/>
        </p:nvSpPr>
        <p:spPr>
          <a:xfrm>
            <a:off x="5852160" y="1655064"/>
            <a:ext cx="2651760" cy="438912"/>
          </a:xfrm>
          <a:prstGeom prst="rect">
            <a:avLst/>
          </a:prstGeom>
          <a:noFill/>
          <a:ln/>
        </p:spPr>
        <p:txBody>
          <a:bodyPr wrap="square" lIns="0" tIns="0" rIns="0" bIns="0" rtlCol="0" anchor="t"/>
          <a:lstStyle/>
          <a:p>
            <a:pPr indent="0" marL="0">
              <a:buNone/>
            </a:pPr>
            <a:r>
              <a:rPr lang="en-US" sz="1200" dirty="0">
                <a:solidFill>
                  <a:schemeClr val="tx1"/>
                </a:solidFill>
              </a:rPr>
              <a:t>abandono con fibra óptica (DSL: 19.0 %)</a:t>
            </a:r>
            <a:endParaRPr lang="en-US" sz="1200" dirty="0"/>
          </a:p>
        </p:txBody>
      </p:sp>
      <p:sp>
        <p:nvSpPr>
          <p:cNvPr id="7" name="dato_1"/>
          <p:cNvSpPr/>
          <p:nvPr/>
        </p:nvSpPr>
        <p:spPr>
          <a:xfrm>
            <a:off x="5669280" y="2304288"/>
            <a:ext cx="3017520" cy="1005840"/>
          </a:xfrm>
          <a:prstGeom prst="roundRect">
            <a:avLst>
              <a:gd name="adj" fmla="val 7273"/>
            </a:avLst>
          </a:prstGeom>
          <a:solidFill>
            <a:schemeClr val="bg2"/>
          </a:solidFill>
          <a:ln w="12700">
            <a:solidFill>
              <a:schemeClr val="bg2"/>
            </a:solidFill>
            <a:prstDash val="solid"/>
          </a:ln>
        </p:spPr>
      </p:sp>
      <p:sp>
        <p:nvSpPr>
          <p:cNvPr id="8" name="Text 5"/>
          <p:cNvSpPr txBox="1"/>
          <p:nvPr/>
        </p:nvSpPr>
        <p:spPr>
          <a:xfrm>
            <a:off x="5852160" y="2377440"/>
            <a:ext cx="2651760" cy="4572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10 vs. 38</a:t>
            </a:r>
            <a:endParaRPr lang="en-US" sz="2400" dirty="0"/>
          </a:p>
        </p:txBody>
      </p:sp>
      <p:sp>
        <p:nvSpPr>
          <p:cNvPr id="9" name="Text 6"/>
          <p:cNvSpPr txBox="1"/>
          <p:nvPr/>
        </p:nvSpPr>
        <p:spPr>
          <a:xfrm>
            <a:off x="5852160" y="2816352"/>
            <a:ext cx="2651760" cy="438912"/>
          </a:xfrm>
          <a:prstGeom prst="rect">
            <a:avLst/>
          </a:prstGeom>
          <a:noFill/>
          <a:ln/>
        </p:spPr>
        <p:txBody>
          <a:bodyPr wrap="square" lIns="0" tIns="0" rIns="0" bIns="0" rtlCol="0" anchor="t"/>
          <a:lstStyle/>
          <a:p>
            <a:pPr indent="0" marL="0">
              <a:buNone/>
            </a:pPr>
            <a:r>
              <a:rPr lang="en-US" sz="1200" dirty="0">
                <a:solidFill>
                  <a:schemeClr val="tx1"/>
                </a:solidFill>
              </a:rPr>
              <a:t>meses de antigüedad mediana: quien se va vs. quien se queda</a:t>
            </a:r>
            <a:endParaRPr lang="en-US" sz="1200" dirty="0"/>
          </a:p>
        </p:txBody>
      </p:sp>
      <p:sp>
        <p:nvSpPr>
          <p:cNvPr id="10" name="dato_2"/>
          <p:cNvSpPr/>
          <p:nvPr/>
        </p:nvSpPr>
        <p:spPr>
          <a:xfrm>
            <a:off x="5669280" y="3465576"/>
            <a:ext cx="3017520" cy="1005840"/>
          </a:xfrm>
          <a:prstGeom prst="roundRect">
            <a:avLst>
              <a:gd name="adj" fmla="val 7273"/>
            </a:avLst>
          </a:prstGeom>
          <a:solidFill>
            <a:schemeClr val="bg2"/>
          </a:solidFill>
          <a:ln w="12700">
            <a:solidFill>
              <a:schemeClr val="bg2"/>
            </a:solidFill>
            <a:prstDash val="solid"/>
          </a:ln>
        </p:spPr>
      </p:sp>
      <p:sp>
        <p:nvSpPr>
          <p:cNvPr id="11" name="Text 8"/>
          <p:cNvSpPr txBox="1"/>
          <p:nvPr/>
        </p:nvSpPr>
        <p:spPr>
          <a:xfrm>
            <a:off x="5852160" y="3538728"/>
            <a:ext cx="2651760" cy="4572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73.5 %</a:t>
            </a:r>
            <a:endParaRPr lang="en-US" sz="2400" dirty="0"/>
          </a:p>
        </p:txBody>
      </p:sp>
      <p:sp>
        <p:nvSpPr>
          <p:cNvPr id="12" name="Text 9"/>
          <p:cNvSpPr txBox="1"/>
          <p:nvPr/>
        </p:nvSpPr>
        <p:spPr>
          <a:xfrm>
            <a:off x="5852160" y="3977640"/>
            <a:ext cx="2651760" cy="438912"/>
          </a:xfrm>
          <a:prstGeom prst="rect">
            <a:avLst/>
          </a:prstGeom>
          <a:noFill/>
          <a:ln/>
        </p:spPr>
        <p:txBody>
          <a:bodyPr wrap="square" lIns="0" tIns="0" rIns="0" bIns="0" rtlCol="0" anchor="t"/>
          <a:lstStyle/>
          <a:p>
            <a:pPr indent="0" marL="0">
              <a:buNone/>
            </a:pPr>
            <a:r>
              <a:rPr lang="en-US" sz="1200" dirty="0">
                <a:solidFill>
                  <a:schemeClr val="tx1"/>
                </a:solidFill>
              </a:rPr>
              <a:t>accuracy de decir siempre "no abandona"</a:t>
            </a:r>
            <a:endParaRPr lang="en-US" sz="1200" dirty="0"/>
          </a:p>
        </p:txBody>
      </p:sp>
      <p:sp>
        <p:nvSpPr>
          <p:cNvPr id="25" name="Slide Number Placeholder 0"/>
          <p:cNvSpPr>
            <a:spLocks noGrp="1"/>
          </p:cNvSpPr>
          <p:nvPr>
            <p:ph type="sldNum" sz="quarter" idx="4294967295"/>
          </p:nvPr>
        </p:nvSpPr>
        <p:spPr>
          <a:xfrm>
            <a:off x="8412480" y="4773168"/>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Imputación: mediana + "Desconocido"</a:t>
            </a:r>
            <a:endParaRPr lang="en-US" sz="2800" dirty="0"/>
          </a:p>
        </p:txBody>
      </p:sp>
      <p:pic>
        <p:nvPicPr>
          <p:cNvPr id="3" name="hist_imputacion" descr="Histogramas de Age: original, imputada con media e imputada con mediana">    </p:cNvPr>
          <p:cNvPicPr>
            <a:picLocks noChangeAspect="1"/>
          </p:cNvPicPr>
          <p:nvPr/>
        </p:nvPicPr>
        <p:blipFill>
          <a:blip r:embed="rId1"/>
          <a:stretch>
            <a:fillRect/>
          </a:stretch>
        </p:blipFill>
        <p:spPr>
          <a:xfrm>
            <a:off x="457200" y="1005840"/>
            <a:ext cx="8229600" cy="2129492"/>
          </a:xfrm>
          <a:prstGeom prst="rect">
            <a:avLst/>
          </a:prstGeom>
        </p:spPr>
      </p:pic>
      <p:graphicFrame>
        <p:nvGraphicFramePr>
          <p:cNvPr id="5" name="tabla_imputacion"/>
          <p:cNvGraphicFramePr>
            <a:graphicFrameLocks noGrp="1"/>
          </p:cNvGraphicFramePr>
          <p:nvPr>
            <p:extLst>
              <p:ext uri="{D42A27DB-BD31-4B8C-83A1-F6EECF244321}">
                <p14:modId xmlns:p14="http://schemas.microsoft.com/office/powerpoint/2010/main" val="1579011935"/>
              </p:ext>
            </p:extLst>
          </p:nvPr>
        </p:nvGraphicFramePr>
        <p:xfrm>
          <a:off x="457200" y="3291840"/>
          <a:ext cx="4846320" cy="914400"/>
        </p:xfrm>
        <a:graphic>
          <a:graphicData uri="http://schemas.openxmlformats.org/drawingml/2006/table">
            <a:tbl>
              <a:tblPr/>
              <a:tblGrid>
                <a:gridCol w="2103120"/>
                <a:gridCol w="914400"/>
                <a:gridCol w="914400"/>
                <a:gridCol w="914400"/>
              </a:tblGrid>
              <a:tr h="274320">
                <a:tc>
                  <a:txBody>
                    <a:bodyPr/>
                    <a:lstStyle/>
                    <a:p>
                      <a:pPr indent="0" marL="0">
                        <a:buNone/>
                      </a:pPr>
                      <a:r>
                        <a:rPr lang="en-US" sz="1200" b="1" dirty="0">
                          <a:solidFill>
                            <a:srgbClr val="FFFFFF"/>
                          </a:solidFill>
                        </a:rPr>
                        <a:t>Estrategia (Titanic)</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rPr>
                        <a:t>Desv. Age</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rPr>
                        <a:t>F1</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rPr>
                        <a:t>ROC-AUC</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solidFill>
                      <a:srgbClr val="1F3A5F"/>
                    </a:solidFill>
                  </a:tcPr>
                </a:tc>
              </a:tr>
              <a:tr h="274320">
                <a:tc>
                  <a:txBody>
                    <a:bodyPr/>
                    <a:lstStyle/>
                    <a:p>
                      <a:pPr indent="0" marL="0">
                        <a:buNone/>
                      </a:pPr>
                      <a:r>
                        <a:rPr lang="en-US" sz="1200" dirty="0">
                          <a:solidFill>
                            <a:srgbClr val="1B1F24"/>
                          </a:solidFill>
                        </a:rPr>
                        <a:t>Original (sin nulos)</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tcPr>
                </a:tc>
                <a:tc>
                  <a:txBody>
                    <a:bodyPr/>
                    <a:lstStyle/>
                    <a:p>
                      <a:pPr indent="0" marL="0">
                        <a:buNone/>
                      </a:pPr>
                      <a:r>
                        <a:rPr lang="en-US" sz="1200" dirty="0">
                          <a:solidFill>
                            <a:srgbClr val="1B1F24"/>
                          </a:solidFill>
                        </a:rPr>
                        <a:t>14.49</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tcPr>
                </a:tc>
                <a:tc>
                  <a:txBody>
                    <a:bodyPr/>
                    <a:lstStyle/>
                    <a:p>
                      <a:pPr indent="0" marL="0">
                        <a:buNone/>
                      </a:pPr>
                      <a:r>
                        <a:rPr lang="en-US" sz="1200" dirty="0">
                          <a:solidFill>
                            <a:srgbClr val="1B1F24"/>
                          </a:solidFill>
                        </a:rPr>
                        <a:t>-</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tcPr>
                </a:tc>
                <a:tc>
                  <a:txBody>
                    <a:bodyPr/>
                    <a:lstStyle/>
                    <a:p>
                      <a:pPr indent="0" marL="0">
                        <a:buNone/>
                      </a:pPr>
                      <a:r>
                        <a:rPr lang="en-US" sz="1200" dirty="0">
                          <a:solidFill>
                            <a:srgbClr val="1B1F24"/>
                          </a:solidFill>
                        </a:rPr>
                        <a:t>-</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tcPr>
                </a:tc>
              </a:tr>
              <a:tr h="274320">
                <a:tc>
                  <a:txBody>
                    <a:bodyPr/>
                    <a:lstStyle/>
                    <a:p>
                      <a:pPr indent="0" marL="0">
                        <a:buNone/>
                      </a:pPr>
                      <a:r>
                        <a:rPr lang="en-US" sz="1200" dirty="0">
                          <a:solidFill>
                            <a:srgbClr val="1B1F24"/>
                          </a:solidFill>
                        </a:rPr>
                        <a:t>A: media + moda</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tcPr>
                </a:tc>
                <a:tc>
                  <a:txBody>
                    <a:bodyPr/>
                    <a:lstStyle/>
                    <a:p>
                      <a:pPr indent="0" marL="0">
                        <a:buNone/>
                      </a:pPr>
                      <a:r>
                        <a:rPr lang="en-US" sz="1200" dirty="0">
                          <a:solidFill>
                            <a:srgbClr val="1B1F24"/>
                          </a:solidFill>
                        </a:rPr>
                        <a:t>13.02</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tcPr>
                </a:tc>
                <a:tc>
                  <a:txBody>
                    <a:bodyPr/>
                    <a:lstStyle/>
                    <a:p>
                      <a:pPr indent="0" marL="0">
                        <a:buNone/>
                      </a:pPr>
                      <a:r>
                        <a:rPr lang="en-US" sz="1200" dirty="0">
                          <a:solidFill>
                            <a:srgbClr val="1B1F24"/>
                          </a:solidFill>
                        </a:rPr>
                        <a:t>0.729</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tcPr>
                </a:tc>
                <a:tc>
                  <a:txBody>
                    <a:bodyPr/>
                    <a:lstStyle/>
                    <a:p>
                      <a:pPr indent="0" marL="0">
                        <a:buNone/>
                      </a:pPr>
                      <a:r>
                        <a:rPr lang="en-US" sz="1200" dirty="0">
                          <a:solidFill>
                            <a:srgbClr val="1B1F24"/>
                          </a:solidFill>
                        </a:rPr>
                        <a:t>0.853</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tcPr>
                </a:tc>
              </a:tr>
              <a:tr h="274320">
                <a:tc>
                  <a:txBody>
                    <a:bodyPr/>
                    <a:lstStyle/>
                    <a:p>
                      <a:pPr indent="0" marL="0">
                        <a:buNone/>
                      </a:pPr>
                      <a:r>
                        <a:rPr lang="en-US" sz="1200" b="1" dirty="0">
                          <a:solidFill>
                            <a:srgbClr val="1B1F24"/>
                          </a:solidFill>
                        </a:rPr>
                        <a:t>B: mediana + Desconocido</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tcPr>
                </a:tc>
                <a:tc>
                  <a:txBody>
                    <a:bodyPr/>
                    <a:lstStyle/>
                    <a:p>
                      <a:pPr indent="0" marL="0">
                        <a:buNone/>
                      </a:pPr>
                      <a:r>
                        <a:rPr lang="en-US" sz="1200" b="1" dirty="0">
                          <a:solidFill>
                            <a:srgbClr val="1B1F24"/>
                          </a:solidFill>
                        </a:rPr>
                        <a:t>13.03</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tcPr>
                </a:tc>
                <a:tc>
                  <a:txBody>
                    <a:bodyPr/>
                    <a:lstStyle/>
                    <a:p>
                      <a:pPr indent="0" marL="0">
                        <a:buNone/>
                      </a:pPr>
                      <a:r>
                        <a:rPr lang="en-US" sz="1200" b="1" dirty="0">
                          <a:solidFill>
                            <a:srgbClr val="1B1F24"/>
                          </a:solidFill>
                        </a:rPr>
                        <a:t>0.730</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tcPr>
                </a:tc>
                <a:tc>
                  <a:txBody>
                    <a:bodyPr/>
                    <a:lstStyle/>
                    <a:p>
                      <a:pPr indent="0" marL="0">
                        <a:buNone/>
                      </a:pPr>
                      <a:r>
                        <a:rPr lang="en-US" sz="1200" b="1" dirty="0">
                          <a:solidFill>
                            <a:srgbClr val="1B1F24"/>
                          </a:solidFill>
                        </a:rPr>
                        <a:t>0.853</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tcPr>
                </a:tc>
              </a:tr>
            </a:tbl>
          </a:graphicData>
        </a:graphic>
      </p:graphicFrame>
      <p:sp>
        <p:nvSpPr>
          <p:cNvPr id="5" name="Text 1"/>
          <p:cNvSpPr txBox="1"/>
          <p:nvPr/>
        </p:nvSpPr>
        <p:spPr>
          <a:xfrm>
            <a:off x="5577840" y="3246120"/>
            <a:ext cx="3108960" cy="137160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137 edades faltantes en entrenamiento.</a:t>
            </a:r>
            <a:endParaRPr lang="en-US" sz="1300" dirty="0"/>
          </a:p>
          <a:p>
            <a:pPr marL="342900" indent="-342900">
              <a:spcAft>
                <a:spcPts val="400"/>
              </a:spcAft>
              <a:buSzPct val="100000"/>
              <a:buChar char="•"/>
            </a:pPr>
            <a:r>
              <a:rPr lang="en-US" sz="1300" dirty="0">
                <a:solidFill>
                  <a:schemeClr val="tx1"/>
                </a:solidFill>
              </a:rPr>
              <a:t>Ambas crean un pico artificial y bajan ~10 % la desviación.</a:t>
            </a:r>
            <a:endParaRPr lang="en-US" sz="1300" dirty="0"/>
          </a:p>
          <a:p>
            <a:pPr marL="342900" indent="-342900">
              <a:spcAft>
                <a:spcPts val="400"/>
              </a:spcAft>
              <a:buSzPct val="100000"/>
              <a:buChar char="•"/>
            </a:pPr>
            <a:r>
              <a:rPr lang="en-US" sz="1300" dirty="0">
                <a:solidFill>
                  <a:schemeClr val="tx1"/>
                </a:solidFill>
              </a:rPr>
              <a:t>Rinden igual; elegimos B porque es robusta y no inventa puertos.</a:t>
            </a:r>
            <a:endParaRPr lang="en-US" sz="1300" dirty="0"/>
          </a:p>
        </p:txBody>
      </p:sp>
      <p:sp>
        <p:nvSpPr>
          <p:cNvPr id="25" name="Slide Number Placeholder 0"/>
          <p:cNvSpPr>
            <a:spLocks noGrp="1"/>
          </p:cNvSpPr>
          <p:nvPr>
            <p:ph type="sldNum" sz="quarter" idx="4294967295"/>
          </p:nvPr>
        </p:nvSpPr>
        <p:spPr>
          <a:xfrm>
            <a:off x="8412480" y="4773168"/>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Winsorización de Fare: percentiles 1 y 99</a:t>
            </a:r>
            <a:endParaRPr lang="en-US" sz="2800" dirty="0"/>
          </a:p>
        </p:txBody>
      </p:sp>
      <p:pic>
        <p:nvPicPr>
          <p:cNvPr id="3" name="box_winsor" descr="Boxplots de Fare sin winsorizar, con IQR y con percentiles 1-99">    </p:cNvPr>
          <p:cNvPicPr>
            <a:picLocks noChangeAspect="1"/>
          </p:cNvPicPr>
          <p:nvPr/>
        </p:nvPicPr>
        <p:blipFill>
          <a:blip r:embed="rId1"/>
          <a:stretch>
            <a:fillRect/>
          </a:stretch>
        </p:blipFill>
        <p:spPr>
          <a:xfrm>
            <a:off x="457200" y="1005840"/>
            <a:ext cx="8229600" cy="1896579"/>
          </a:xfrm>
          <a:prstGeom prst="rect">
            <a:avLst/>
          </a:prstGeom>
        </p:spPr>
      </p:pic>
      <p:graphicFrame>
        <p:nvGraphicFramePr>
          <p:cNvPr id="6" name="tabla_winsor"/>
          <p:cNvGraphicFramePr>
            <a:graphicFrameLocks noGrp="1"/>
          </p:cNvGraphicFramePr>
          <p:nvPr>
            <p:extLst>
              <p:ext uri="{D42A27DB-BD31-4B8C-83A1-F6EECF244321}">
                <p14:modId xmlns:p14="http://schemas.microsoft.com/office/powerpoint/2010/main" val="1579011935"/>
              </p:ext>
            </p:extLst>
          </p:nvPr>
        </p:nvGraphicFramePr>
        <p:xfrm>
          <a:off x="457200" y="3063240"/>
          <a:ext cx="4846320" cy="914400"/>
        </p:xfrm>
        <a:graphic>
          <a:graphicData uri="http://schemas.openxmlformats.org/drawingml/2006/table">
            <a:tbl>
              <a:tblPr/>
              <a:tblGrid>
                <a:gridCol w="1554480"/>
                <a:gridCol w="822960"/>
                <a:gridCol w="822960"/>
                <a:gridCol w="822960"/>
                <a:gridCol w="822960"/>
              </a:tblGrid>
              <a:tr h="274320">
                <a:tc>
                  <a:txBody>
                    <a:bodyPr/>
                    <a:lstStyle/>
                    <a:p>
                      <a:pPr indent="0" marL="0">
                        <a:buNone/>
                      </a:pPr>
                      <a:r>
                        <a:rPr lang="en-US" sz="1200" b="1" dirty="0">
                          <a:solidFill>
                            <a:srgbClr val="FFFFFF"/>
                          </a:solidFill>
                        </a:rPr>
                        <a:t>Versión</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rPr>
                        <a:t>Recorta</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rPr>
                        <a:t>Máx.</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rPr>
                        <a:t>Desv.</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rPr>
                        <a:t>F1</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solidFill>
                      <a:srgbClr val="1F3A5F"/>
                    </a:solidFill>
                  </a:tcPr>
                </a:tc>
              </a:tr>
              <a:tr h="274320">
                <a:tc>
                  <a:txBody>
                    <a:bodyPr/>
                    <a:lstStyle/>
                    <a:p>
                      <a:pPr indent="0" marL="0">
                        <a:buNone/>
                      </a:pPr>
                      <a:r>
                        <a:rPr lang="en-US" sz="1200" dirty="0">
                          <a:solidFill>
                            <a:srgbClr val="1B1F24"/>
                          </a:solidFill>
                        </a:rPr>
                        <a:t>Sin winsorizar</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tcPr>
                </a:tc>
                <a:tc>
                  <a:txBody>
                    <a:bodyPr/>
                    <a:lstStyle/>
                    <a:p>
                      <a:pPr indent="0" marL="0">
                        <a:buNone/>
                      </a:pPr>
                      <a:r>
                        <a:rPr lang="en-US" sz="1200" dirty="0">
                          <a:solidFill>
                            <a:srgbClr val="1B1F24"/>
                          </a:solidFill>
                        </a:rPr>
                        <a:t>-</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tcPr>
                </a:tc>
                <a:tc>
                  <a:txBody>
                    <a:bodyPr/>
                    <a:lstStyle/>
                    <a:p>
                      <a:pPr indent="0" marL="0">
                        <a:buNone/>
                      </a:pPr>
                      <a:r>
                        <a:rPr lang="en-US" sz="1200" dirty="0">
                          <a:solidFill>
                            <a:srgbClr val="1B1F24"/>
                          </a:solidFill>
                        </a:rPr>
                        <a:t>512.33</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tcPr>
                </a:tc>
                <a:tc>
                  <a:txBody>
                    <a:bodyPr/>
                    <a:lstStyle/>
                    <a:p>
                      <a:pPr indent="0" marL="0">
                        <a:buNone/>
                      </a:pPr>
                      <a:r>
                        <a:rPr lang="en-US" sz="1200" dirty="0">
                          <a:solidFill>
                            <a:srgbClr val="1B1F24"/>
                          </a:solidFill>
                        </a:rPr>
                        <a:t>48.06</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tcPr>
                </a:tc>
                <a:tc>
                  <a:txBody>
                    <a:bodyPr/>
                    <a:lstStyle/>
                    <a:p>
                      <a:pPr indent="0" marL="0">
                        <a:buNone/>
                      </a:pPr>
                      <a:r>
                        <a:rPr lang="en-US" sz="1200" dirty="0">
                          <a:solidFill>
                            <a:srgbClr val="1B1F24"/>
                          </a:solidFill>
                        </a:rPr>
                        <a:t>0.730</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tcPr>
                </a:tc>
              </a:tr>
              <a:tr h="274320">
                <a:tc>
                  <a:txBody>
                    <a:bodyPr/>
                    <a:lstStyle/>
                    <a:p>
                      <a:pPr indent="0" marL="0">
                        <a:buNone/>
                      </a:pPr>
                      <a:r>
                        <a:rPr lang="en-US" sz="1200" dirty="0">
                          <a:solidFill>
                            <a:srgbClr val="1B1F24"/>
                          </a:solidFill>
                        </a:rPr>
                        <a:t>IQR (1.5)</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tcPr>
                </a:tc>
                <a:tc>
                  <a:txBody>
                    <a:bodyPr/>
                    <a:lstStyle/>
                    <a:p>
                      <a:pPr indent="0" marL="0">
                        <a:buNone/>
                      </a:pPr>
                      <a:r>
                        <a:rPr lang="en-US" sz="1200" dirty="0">
                          <a:solidFill>
                            <a:srgbClr val="1B1F24"/>
                          </a:solidFill>
                        </a:rPr>
                        <a:t>12.8 %</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tcPr>
                </a:tc>
                <a:tc>
                  <a:txBody>
                    <a:bodyPr/>
                    <a:lstStyle/>
                    <a:p>
                      <a:pPr indent="0" marL="0">
                        <a:buNone/>
                      </a:pPr>
                      <a:r>
                        <a:rPr lang="en-US" sz="1200" dirty="0">
                          <a:solidFill>
                            <a:srgbClr val="1B1F24"/>
                          </a:solidFill>
                        </a:rPr>
                        <a:t>65.66</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tcPr>
                </a:tc>
                <a:tc>
                  <a:txBody>
                    <a:bodyPr/>
                    <a:lstStyle/>
                    <a:p>
                      <a:pPr indent="0" marL="0">
                        <a:buNone/>
                      </a:pPr>
                      <a:r>
                        <a:rPr lang="en-US" sz="1200" dirty="0">
                          <a:solidFill>
                            <a:srgbClr val="1B1F24"/>
                          </a:solidFill>
                        </a:rPr>
                        <a:t>20.51</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tcPr>
                </a:tc>
                <a:tc>
                  <a:txBody>
                    <a:bodyPr/>
                    <a:lstStyle/>
                    <a:p>
                      <a:pPr indent="0" marL="0">
                        <a:buNone/>
                      </a:pPr>
                      <a:r>
                        <a:rPr lang="en-US" sz="1200" dirty="0">
                          <a:solidFill>
                            <a:srgbClr val="1B1F24"/>
                          </a:solidFill>
                        </a:rPr>
                        <a:t>0.713</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tcPr>
                </a:tc>
              </a:tr>
              <a:tr h="274320">
                <a:tc>
                  <a:txBody>
                    <a:bodyPr/>
                    <a:lstStyle/>
                    <a:p>
                      <a:pPr indent="0" marL="0">
                        <a:buNone/>
                      </a:pPr>
                      <a:r>
                        <a:rPr lang="en-US" sz="1200" b="1" dirty="0">
                          <a:solidFill>
                            <a:srgbClr val="1B1F24"/>
                          </a:solidFill>
                        </a:rPr>
                        <a:t>Percentiles 1-99</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tcPr>
                </a:tc>
                <a:tc>
                  <a:txBody>
                    <a:bodyPr/>
                    <a:lstStyle/>
                    <a:p>
                      <a:pPr indent="0" marL="0">
                        <a:buNone/>
                      </a:pPr>
                      <a:r>
                        <a:rPr lang="en-US" sz="1200" b="1" dirty="0">
                          <a:solidFill>
                            <a:srgbClr val="1B1F24"/>
                          </a:solidFill>
                        </a:rPr>
                        <a:t>1.0 %</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tcPr>
                </a:tc>
                <a:tc>
                  <a:txBody>
                    <a:bodyPr/>
                    <a:lstStyle/>
                    <a:p>
                      <a:pPr indent="0" marL="0">
                        <a:buNone/>
                      </a:pPr>
                      <a:r>
                        <a:rPr lang="en-US" sz="1200" b="1" dirty="0">
                          <a:solidFill>
                            <a:srgbClr val="1B1F24"/>
                          </a:solidFill>
                        </a:rPr>
                        <a:t>227.53</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tcPr>
                </a:tc>
                <a:tc>
                  <a:txBody>
                    <a:bodyPr/>
                    <a:lstStyle/>
                    <a:p>
                      <a:pPr indent="0" marL="0">
                        <a:buNone/>
                      </a:pPr>
                      <a:r>
                        <a:rPr lang="en-US" sz="1200" b="1" dirty="0">
                          <a:solidFill>
                            <a:srgbClr val="1B1F24"/>
                          </a:solidFill>
                        </a:rPr>
                        <a:t>41.00</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tcPr>
                </a:tc>
                <a:tc>
                  <a:txBody>
                    <a:bodyPr/>
                    <a:lstStyle/>
                    <a:p>
                      <a:pPr indent="0" marL="0">
                        <a:buNone/>
                      </a:pPr>
                      <a:r>
                        <a:rPr lang="en-US" sz="1200" b="1" dirty="0">
                          <a:solidFill>
                            <a:srgbClr val="1B1F24"/>
                          </a:solidFill>
                        </a:rPr>
                        <a:t>0.730</a:t>
                      </a:r>
                      <a:endParaRPr lang="en-US" sz="1200" dirty="0"/>
                    </a:p>
                  </a:txBody>
                  <a:tcPr marL="91440" marR="91440" marT="45720" marB="45720">
                    <a:lnL w="6350" cap="flat" cmpd="sng" algn="ctr">
                      <a:solidFill>
                        <a:srgbClr val="C9D2DC"/>
                      </a:solidFill>
                      <a:prstDash val="solid"/>
                      <a:round/>
                      <a:headEnd type="none" w="med" len="med"/>
                      <a:tailEnd type="none" w="med" len="med"/>
                    </a:lnL>
                    <a:lnR w="6350" cap="flat" cmpd="sng" algn="ctr">
                      <a:solidFill>
                        <a:srgbClr val="C9D2DC"/>
                      </a:solidFill>
                      <a:prstDash val="solid"/>
                      <a:round/>
                      <a:headEnd type="none" w="med" len="med"/>
                      <a:tailEnd type="none" w="med" len="med"/>
                    </a:lnR>
                    <a:lnT w="6350" cap="flat" cmpd="sng" algn="ctr">
                      <a:solidFill>
                        <a:srgbClr val="C9D2DC"/>
                      </a:solidFill>
                      <a:prstDash val="solid"/>
                      <a:round/>
                      <a:headEnd type="none" w="med" len="med"/>
                      <a:tailEnd type="none" w="med" len="med"/>
                    </a:lnT>
                    <a:lnB w="6350" cap="flat" cmpd="sng" algn="ctr">
                      <a:solidFill>
                        <a:srgbClr val="C9D2DC"/>
                      </a:solidFill>
                      <a:prstDash val="solid"/>
                      <a:round/>
                      <a:headEnd type="none" w="med" len="med"/>
                      <a:tailEnd type="none" w="med" len="med"/>
                    </a:lnB>
                  </a:tcPr>
                </a:tc>
              </a:tr>
            </a:tbl>
          </a:graphicData>
        </a:graphic>
      </p:graphicFrame>
      <p:sp>
        <p:nvSpPr>
          <p:cNvPr id="5" name="Text 1"/>
          <p:cNvSpPr txBox="1"/>
          <p:nvPr/>
        </p:nvSpPr>
        <p:spPr>
          <a:xfrm>
            <a:off x="5577840" y="3017520"/>
            <a:ext cx="3108960" cy="160020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Límites calculados solo con entrenamiento.</a:t>
            </a:r>
            <a:endParaRPr lang="en-US" sz="1300" dirty="0"/>
          </a:p>
          <a:p>
            <a:pPr marL="342900" indent="-342900">
              <a:spcAft>
                <a:spcPts val="400"/>
              </a:spcAft>
              <a:buSzPct val="100000"/>
              <a:buChar char="•"/>
            </a:pPr>
            <a:r>
              <a:rPr lang="en-US" sz="1300" dirty="0">
                <a:solidFill>
                  <a:schemeClr val="tx1"/>
                </a:solidFill>
              </a:rPr>
              <a:t>IQR recorta tarifas legítimas de 1.ª clase y baja el F1.</a:t>
            </a:r>
            <a:endParaRPr lang="en-US" sz="1300" dirty="0"/>
          </a:p>
          <a:p>
            <a:pPr marL="342900" indent="-342900">
              <a:spcAft>
                <a:spcPts val="400"/>
              </a:spcAft>
              <a:buSzPct val="100000"/>
              <a:buChar char="•"/>
            </a:pPr>
            <a:r>
              <a:rPr lang="en-US" sz="1300" dirty="0">
                <a:solidFill>
                  <a:schemeClr val="tx1"/>
                </a:solidFill>
              </a:rPr>
              <a:t>Ningún criterio mejora el modelo; 1-99 reduce extremos sin perder información.</a:t>
            </a:r>
            <a:endParaRPr lang="en-US" sz="1300" dirty="0"/>
          </a:p>
        </p:txBody>
      </p:sp>
      <p:sp>
        <p:nvSpPr>
          <p:cNvPr id="25" name="Slide Number Placeholder 0"/>
          <p:cNvSpPr>
            <a:spLocks noGrp="1"/>
          </p:cNvSpPr>
          <p:nvPr>
            <p:ph type="sldNum" sz="quarter" idx="4294967295"/>
          </p:nvPr>
        </p:nvSpPr>
        <p:spPr>
          <a:xfrm>
            <a:off x="8412480" y="4773168"/>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Balancear sube el recall de 0.54 a ~0.80 en Telco</a:t>
            </a:r>
            <a:endParaRPr lang="en-US" sz="2800" dirty="0"/>
          </a:p>
        </p:txBody>
      </p:sp>
      <p:graphicFrame>
        <p:nvGraphicFramePr>
          <p:cNvPr id="3" name="grafica_balanceo" descr=""/>
          <p:cNvGraphicFramePr/>
          <p:nvPr/>
        </p:nvGraphicFramePr>
        <p:xfrm>
          <a:off x="457200" y="1005840"/>
          <a:ext cx="5394960" cy="3611880"/>
        </p:xfrm>
        <a:graphic xmlns:a="http://schemas.openxmlformats.org/drawingml/2006/main">
          <a:graphicData uri="http://schemas.openxmlformats.org/drawingml/2006/chart">
            <c:chart xmlns:c="http://schemas.openxmlformats.org/drawingml/2006/chart" r:id="rId1"/>
          </a:graphicData>
        </a:graphic>
      </p:graphicFrame>
      <p:sp>
        <p:nvSpPr>
          <p:cNvPr id="4" name="prueba_detecta"/>
          <p:cNvSpPr/>
          <p:nvPr/>
        </p:nvSpPr>
        <p:spPr>
          <a:xfrm>
            <a:off x="6126480" y="1097280"/>
            <a:ext cx="2560320" cy="1600200"/>
          </a:xfrm>
          <a:prstGeom prst="roundRect">
            <a:avLst>
              <a:gd name="adj" fmla="val 4571"/>
            </a:avLst>
          </a:prstGeom>
          <a:solidFill>
            <a:schemeClr val="bg2"/>
          </a:solidFill>
          <a:ln w="12700">
            <a:solidFill>
              <a:schemeClr val="bg2"/>
            </a:solidFill>
            <a:prstDash val="solid"/>
          </a:ln>
        </p:spPr>
      </p:sp>
      <p:sp>
        <p:nvSpPr>
          <p:cNvPr id="5" name="Text 2"/>
          <p:cNvSpPr txBox="1"/>
          <p:nvPr/>
        </p:nvSpPr>
        <p:spPr>
          <a:xfrm>
            <a:off x="6309360" y="1188720"/>
            <a:ext cx="2240280" cy="1417320"/>
          </a:xfrm>
          <a:prstGeom prst="rect">
            <a:avLst/>
          </a:prstGeom>
          <a:noFill/>
          <a:ln/>
        </p:spPr>
        <p:txBody>
          <a:bodyPr wrap="square" lIns="0" tIns="0" rIns="0" bIns="0" rtlCol="0" anchor="t"/>
          <a:lstStyle/>
          <a:p>
            <a:pPr indent="0" marL="0">
              <a:buNone/>
            </a:pPr>
            <a:r>
              <a:rPr lang="en-US" sz="3400" b="1" dirty="0">
                <a:solidFill>
                  <a:schemeClr val="accent3"/>
                </a:solidFill>
              </a:rPr>
              <a:t>+86</a:t>
            </a:r>
            <a:endParaRPr lang="en-US" sz="3400" dirty="0"/>
          </a:p>
          <a:p>
            <a:pPr indent="0" marL="0">
              <a:buNone/>
            </a:pPr>
            <a:r>
              <a:rPr lang="en-US" sz="1200" dirty="0">
                <a:solidFill>
                  <a:schemeClr val="tx1"/>
                </a:solidFill>
              </a:rPr>
              <a:t>abandonos detectados en prueba con ponderación (207 → 293)</a:t>
            </a:r>
            <a:endParaRPr lang="en-US" sz="3400" dirty="0"/>
          </a:p>
        </p:txBody>
      </p:sp>
      <p:sp>
        <p:nvSpPr>
          <p:cNvPr id="6" name="prueba_alarmas"/>
          <p:cNvSpPr/>
          <p:nvPr/>
        </p:nvSpPr>
        <p:spPr>
          <a:xfrm>
            <a:off x="6126480" y="2880360"/>
            <a:ext cx="2560320" cy="1600200"/>
          </a:xfrm>
          <a:prstGeom prst="roundRect">
            <a:avLst>
              <a:gd name="adj" fmla="val 4571"/>
            </a:avLst>
          </a:prstGeom>
          <a:solidFill>
            <a:schemeClr val="bg2"/>
          </a:solidFill>
          <a:ln w="12700">
            <a:solidFill>
              <a:schemeClr val="bg2"/>
            </a:solidFill>
            <a:prstDash val="solid"/>
          </a:ln>
        </p:spPr>
      </p:sp>
      <p:sp>
        <p:nvSpPr>
          <p:cNvPr id="7" name="Text 4"/>
          <p:cNvSpPr txBox="1"/>
          <p:nvPr/>
        </p:nvSpPr>
        <p:spPr>
          <a:xfrm>
            <a:off x="6309360" y="2971800"/>
            <a:ext cx="2240280" cy="1417320"/>
          </a:xfrm>
          <a:prstGeom prst="rect">
            <a:avLst/>
          </a:prstGeom>
          <a:noFill/>
          <a:ln/>
        </p:spPr>
        <p:txBody>
          <a:bodyPr wrap="square" lIns="0" tIns="0" rIns="0" bIns="0" rtlCol="0" anchor="t"/>
          <a:lstStyle/>
          <a:p>
            <a:pPr indent="0" marL="0">
              <a:buNone/>
            </a:pPr>
            <a:r>
              <a:rPr lang="en-US" sz="3400" b="1" dirty="0">
                <a:solidFill>
                  <a:schemeClr val="tx2"/>
                </a:solidFill>
              </a:rPr>
              <a:t>+180</a:t>
            </a:r>
            <a:endParaRPr lang="en-US" sz="3400" dirty="0"/>
          </a:p>
          <a:p>
            <a:pPr indent="0" marL="0">
              <a:buNone/>
            </a:pPr>
            <a:r>
              <a:rPr lang="en-US" sz="1200" dirty="0">
                <a:solidFill>
                  <a:schemeClr val="tx1"/>
                </a:solidFill>
              </a:rPr>
              <a:t>falsas alarmas a cambio (109 → 289); ROC-AUC igual: 0.842</a:t>
            </a:r>
            <a:endParaRPr lang="en-US" sz="3400" dirty="0"/>
          </a:p>
        </p:txBody>
      </p:sp>
      <p:sp>
        <p:nvSpPr>
          <p:cNvPr id="25" name="Slide Number Placeholder 0"/>
          <p:cNvSpPr>
            <a:spLocks noGrp="1"/>
          </p:cNvSpPr>
          <p:nvPr>
            <p:ph type="sldNum" sz="quarter" idx="4294967295"/>
          </p:nvPr>
        </p:nvSpPr>
        <p:spPr>
          <a:xfrm>
            <a:off x="8412480" y="4773168"/>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Recomendación y limitaciones</a:t>
            </a:r>
            <a:endParaRPr lang="en-US" sz="2800" dirty="0"/>
          </a:p>
        </p:txBody>
      </p:sp>
      <p:sp>
        <p:nvSpPr>
          <p:cNvPr id="3" name="recomendacion"/>
          <p:cNvSpPr/>
          <p:nvPr/>
        </p:nvSpPr>
        <p:spPr>
          <a:xfrm>
            <a:off x="457200" y="1097280"/>
            <a:ext cx="3977640" cy="3108960"/>
          </a:xfrm>
          <a:prstGeom prst="roundRect">
            <a:avLst>
              <a:gd name="adj" fmla="val 2353"/>
            </a:avLst>
          </a:prstGeom>
          <a:solidFill>
            <a:schemeClr val="bg2"/>
          </a:solidFill>
          <a:ln w="12700">
            <a:solidFill>
              <a:schemeClr val="bg2"/>
            </a:solidFill>
            <a:prstDash val="solid"/>
          </a:ln>
        </p:spPr>
      </p:sp>
      <p:sp>
        <p:nvSpPr>
          <p:cNvPr id="4" name="Text 2"/>
          <p:cNvSpPr txBox="1"/>
          <p:nvPr/>
        </p:nvSpPr>
        <p:spPr>
          <a:xfrm>
            <a:off x="685800" y="1188720"/>
            <a:ext cx="3566160" cy="36576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Recomendamos</a:t>
            </a:r>
            <a:endParaRPr lang="en-US" sz="1800" dirty="0"/>
          </a:p>
        </p:txBody>
      </p:sp>
      <p:sp>
        <p:nvSpPr>
          <p:cNvPr id="5" name="Text 3"/>
          <p:cNvSpPr txBox="1"/>
          <p:nvPr/>
        </p:nvSpPr>
        <p:spPr>
          <a:xfrm>
            <a:off x="685800" y="1645920"/>
            <a:ext cx="3566160" cy="2423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Ponderación de clases si retener es barato y perder un cliente es caro.</a:t>
            </a:r>
            <a:endParaRPr lang="en-US" sz="1400" dirty="0"/>
          </a:p>
          <a:p>
            <a:pPr marL="342900" indent="-342900">
              <a:spcAft>
                <a:spcPts val="800"/>
              </a:spcAft>
              <a:buSzPct val="100000"/>
              <a:buChar char="•"/>
            </a:pPr>
            <a:r>
              <a:rPr lang="en-US" sz="1400" dirty="0">
                <a:solidFill>
                  <a:schemeClr val="tx1"/>
                </a:solidFill>
              </a:rPr>
              <a:t>Sin balanceo (o ajustar el umbral) si cada falsa alarma cuesta mucho.</a:t>
            </a:r>
            <a:endParaRPr lang="en-US" sz="1400" dirty="0"/>
          </a:p>
          <a:p>
            <a:pPr marL="342900" indent="-342900">
              <a:spcAft>
                <a:spcPts val="800"/>
              </a:spcAft>
              <a:buSzPct val="100000"/>
              <a:buChar char="•"/>
            </a:pPr>
            <a:r>
              <a:rPr lang="en-US" sz="1400" dirty="0">
                <a:solidFill>
                  <a:schemeClr val="tx1"/>
                </a:solidFill>
              </a:rPr>
              <a:t>Evaluar con recall, precision y F1 de "abandona", no solo accuracy.</a:t>
            </a:r>
            <a:endParaRPr lang="en-US" sz="1400" dirty="0"/>
          </a:p>
          <a:p>
            <a:pPr marL="342900" indent="-342900">
              <a:spcAft>
                <a:spcPts val="800"/>
              </a:spcAft>
              <a:buSzPct val="100000"/>
              <a:buChar char="•"/>
            </a:pPr>
            <a:r>
              <a:rPr lang="en-US" sz="1400" dirty="0">
                <a:solidFill>
                  <a:schemeClr val="tx1"/>
                </a:solidFill>
              </a:rPr>
              <a:t>Priorizar contratos mensuales, clientes nuevos y fibra óptica.</a:t>
            </a:r>
            <a:endParaRPr lang="en-US" sz="1400" dirty="0"/>
          </a:p>
        </p:txBody>
      </p:sp>
      <p:sp>
        <p:nvSpPr>
          <p:cNvPr id="6" name="limitaciones"/>
          <p:cNvSpPr/>
          <p:nvPr/>
        </p:nvSpPr>
        <p:spPr>
          <a:xfrm>
            <a:off x="4709160" y="1097280"/>
            <a:ext cx="3977640" cy="3108960"/>
          </a:xfrm>
          <a:prstGeom prst="roundRect">
            <a:avLst>
              <a:gd name="adj" fmla="val 2353"/>
            </a:avLst>
          </a:prstGeom>
          <a:solidFill>
            <a:schemeClr val="bg1"/>
          </a:solidFill>
          <a:ln w="12700">
            <a:solidFill>
              <a:srgbClr val="C9D2DC"/>
            </a:solidFill>
            <a:prstDash val="solid"/>
          </a:ln>
        </p:spPr>
      </p:sp>
      <p:sp>
        <p:nvSpPr>
          <p:cNvPr id="7" name="Text 5"/>
          <p:cNvSpPr txBox="1"/>
          <p:nvPr/>
        </p:nvSpPr>
        <p:spPr>
          <a:xfrm>
            <a:off x="4937760" y="1188720"/>
            <a:ext cx="3566160" cy="365760"/>
          </a:xfrm>
          <a:prstGeom prst="rect">
            <a:avLst/>
          </a:prstGeom>
          <a:noFill/>
          <a:ln/>
        </p:spPr>
        <p:txBody>
          <a:bodyPr wrap="square" lIns="0" tIns="0" rIns="0" bIns="0" rtlCol="0" anchor="ctr"/>
          <a:lstStyle/>
          <a:p>
            <a:pPr indent="0" marL="0">
              <a:buNone/>
            </a:pPr>
            <a:r>
              <a:rPr lang="en-US" sz="1800" b="1" dirty="0">
                <a:solidFill>
                  <a:schemeClr val="accent3"/>
                </a:solidFill>
                <a:latin typeface="Cambria" pitchFamily="34" charset="0"/>
                <a:ea typeface="Cambria" pitchFamily="34" charset="-122"/>
                <a:cs typeface="Cambria" pitchFamily="34" charset="-120"/>
              </a:rPr>
              <a:t>Limitaciones</a:t>
            </a:r>
            <a:endParaRPr lang="en-US" sz="1800" dirty="0"/>
          </a:p>
        </p:txBody>
      </p:sp>
      <p:sp>
        <p:nvSpPr>
          <p:cNvPr id="8" name="Text 6"/>
          <p:cNvSpPr txBox="1"/>
          <p:nvPr/>
        </p:nvSpPr>
        <p:spPr>
          <a:xfrm>
            <a:off x="4937760" y="1645920"/>
            <a:ext cx="3566160" cy="2423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Un solo modelo (regresión logística) y umbral de 0.5.</a:t>
            </a:r>
            <a:endParaRPr lang="en-US" sz="1400" dirty="0"/>
          </a:p>
          <a:p>
            <a:pPr marL="342900" indent="-342900">
              <a:spcAft>
                <a:spcPts val="800"/>
              </a:spcAft>
              <a:buSzPct val="100000"/>
              <a:buChar char="•"/>
            </a:pPr>
            <a:r>
              <a:rPr lang="en-US" sz="1400" dirty="0">
                <a:solidFill>
                  <a:schemeClr val="tx1"/>
                </a:solidFill>
              </a:rPr>
              <a:t>Sin datos de costos para validar el supuesto de negocio.</a:t>
            </a:r>
            <a:endParaRPr lang="en-US" sz="1400" dirty="0"/>
          </a:p>
          <a:p>
            <a:pPr marL="342900" indent="-342900">
              <a:spcAft>
                <a:spcPts val="800"/>
              </a:spcAft>
              <a:buSzPct val="100000"/>
              <a:buChar char="•"/>
            </a:pPr>
            <a:r>
              <a:rPr lang="en-US" sz="1400" dirty="0">
                <a:solidFill>
                  <a:schemeClr val="tx1"/>
                </a:solidFill>
              </a:rPr>
              <a:t>En Telco, tenure y cargos se miden al momento de la baja.</a:t>
            </a:r>
            <a:endParaRPr lang="en-US" sz="1400" dirty="0"/>
          </a:p>
          <a:p>
            <a:pPr marL="342900" indent="-342900">
              <a:spcAft>
                <a:spcPts val="800"/>
              </a:spcAft>
              <a:buSzPct val="100000"/>
              <a:buChar char="•"/>
            </a:pPr>
            <a:r>
              <a:rPr lang="en-US" sz="1400" dirty="0">
                <a:solidFill>
                  <a:schemeClr val="tx1"/>
                </a:solidFill>
              </a:rPr>
              <a:t>Sesgos de sexo y clase (Titanic); gender y SeniorCitizen son sensibles (Telco).</a:t>
            </a:r>
            <a:endParaRPr lang="en-US" sz="1400" dirty="0"/>
          </a:p>
        </p:txBody>
      </p:sp>
      <p:sp>
        <p:nvSpPr>
          <p:cNvPr id="25" name="Slide Number Placeholder 0"/>
          <p:cNvSpPr>
            <a:spLocks noGrp="1"/>
          </p:cNvSpPr>
          <p:nvPr>
            <p:ph type="sldNum" sz="quarter" idx="4294967295"/>
          </p:nvPr>
        </p:nvSpPr>
        <p:spPr>
          <a:xfrm>
            <a:off x="8412480" y="4773168"/>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Practica2 EDA">
  <a:themeElements>
    <a:clrScheme name="Practica2 EDA">
      <a:dk1>
        <a:srgbClr val="1B1F24"/>
      </a:dk1>
      <a:lt1>
        <a:srgbClr val="FFFFFF"/>
      </a:lt1>
      <a:dk2>
        <a:srgbClr val="1F3A5F"/>
      </a:dk2>
      <a:lt2>
        <a:srgbClr val="EEF2F7"/>
      </a:lt2>
      <a:accent1>
        <a:srgbClr val="1F3A5F"/>
      </a:accent1>
      <a:accent2>
        <a:srgbClr val="2A9D8F"/>
      </a:accent2>
      <a:accent3>
        <a:srgbClr val="E76F51"/>
      </a:accent3>
      <a:accent4>
        <a:srgbClr val="8AA1B9"/>
      </a:accent4>
      <a:accent5>
        <a:srgbClr val="F4A261"/>
      </a:accent5>
      <a:accent6>
        <a:srgbClr val="6C757D"/>
      </a:accent6>
      <a:hlink>
        <a:srgbClr val="2A9D8F"/>
      </a:hlink>
      <a:folHlink>
        <a:srgbClr val="6C757D"/>
      </a:folHlink>
    </a:clrScheme>
    <a:fontScheme name="Practica2 ED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Práctica 2. EDA y preparación de datasets</dc:title>
  <dc:subject>PptxGenJS Presentation</dc:subject>
  <dc:creator>Equipo Práctica 2</dc:creator>
  <cp:lastModifiedBy>Equipo Práctica 2</cp:lastModifiedBy>
  <cp:revision>1</cp:revision>
  <dcterms:created xsi:type="dcterms:W3CDTF">2026-10-15T18:19:47Z</dcterms:created>
  <dcterms:modified xsi:type="dcterms:W3CDTF">2026-10-15T18:19:47Z</dcterms:modified>
</cp:coreProperties>
</file>